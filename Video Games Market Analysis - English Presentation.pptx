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522" autoAdjust="0"/>
  </p:normalViewPr>
  <p:slideViewPr>
    <p:cSldViewPr snapToGrid="0" snapToObjects="1">
      <p:cViewPr varScale="1">
        <p:scale>
          <a:sx n="99" d="100"/>
          <a:sy n="99" d="100"/>
        </p:scale>
        <p:origin x="91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612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 the panel of doctors and esteemed committee members. We are honored to present our graduation project today for the Data Analytics track of the DEPI Digital Egypt Pioneers Initiative. Our project is titled Video Games Global Market Analysis, and our core objective is to integrate and analyze four full decades of gaming market data to extract strategic business decisions. It is my pleasure to introduce the team behind this project's engineering.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historical challenge in the gaming industry has always been the fragmentation of data across different hardware generations. We took on this mission and analyzed data spanning 1980 to 2020 across 4 major world regions. Our pipeline successfully analyzed 11,920 games with a staggering total sales volume of 8.81 billion dollars, and we were able to precisely determine that only 13.53% of games in the market achieve Million-Seller hit status.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work in a sound business manner, we began the project with a shared team brainstorming session and drafted 12 precise business questions of the kind any investor would ask. For the sake of your valuable time, we distilled those 12 questions into 4 major strategic pillars that the dashboard directly answers: continental sales and cultural preferences, genre investment safety, average platform lifespan, and publisher dominance. The remaining questions are fully documented in the accompanying documentation 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arrive at this final product, we followed a complete, professional engineering pipeline. It starts with the Data Preprocessing phase in Python with our teammate Amr Mohamed, followed by Relational Warehousing and ERD design in SQL Server with our teammate Mohamed Hany, then Analytical Data Modeling and DAX formula writing with our teammate Ahmed Hussein, and finally the UI/UX and Data Storytelling phase with myself. I will now hand the microphone to Amr to walk us through the first step.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Mohamed. Hello everyone — I received the raw data, which had several flaws and missing values, such as games without an explicit release year. Using Python I performed the Data Cleaning step and fully resolved these issues to guarantee the integrity of the numbers. I then performed a highly valuable technical step called Feature Engineering: I derived 3 new variables to enrich the analysis — a column grouping hardware into parent manufacturers, a column classifying games into release decades, and a final column that instantly flags whether a title has broken the one-million-copy mark. With that, the data was handed off clean and ready for the SQL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Amr. After receiving the clean and enriched data, we needed to load it into an SQL Server database to keep the project at an enterprise-grade standard. To prevent data anomalies and redundancy, I broke the large flat table into 4 relational tables based on Normalization principles: a central Fact_Sales table connected to three supporting dimension tables — Dim_Games, Dim_Platforms and Dim_Date. The ERD shown here maps those relationships and ensures fast queries, and from there the tables were handed off to Ahmed to build the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Hany. I received the 4 tables inside Power BI and built our analytical model as a professional Star Schema, connecting the tables with One-to-Many relationships. The technical secret that keeps every chart and filter perfectly synchronized in real time, without any lag, was setting the Cross Filter Direction to Both on the core dimension tables — which is what guaranteed sub-1-second filtering latency.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surface strategic business figures, I wrote advanced custom DAX formulas: a precise Platform Lifespan calculation, and a Million Seller Percentage measure. I also used variables, TOPN, and MAXX techniques to dynamically rank the top-performing platforms and publishers as filters change. I'll now hand the microphone back to Mohamed Magdy to present the interface and live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Ahmed. Now comes the visual interface, UX, and data storytelling. Since our topic is video games, we deliberately moved away from traditional white dashboards and designed a Futuristic Gaming HUD Dark Theme to match the industry and reduce visual fatigue. We paid close attention to spatial management, shrinking metadata card fonts to 8pt to eliminate nested scrollbars — a common bad practice in analytical interfaces — and used flexible side navigation buttons so the experience feels like a real software application.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open the first screen of the application, the Market Overview, the dashboard directly answers our first two research pillars: continental sales are clear — North America alone dominates with 49% of total worldwide sales. From the timeline we can see that the real explosion in gaming sales began with the turn of the millennium, and that the historically safe investment categories are Action and Sports games, exceeding 3 billion dollars combined.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second screen, covering platforms and hardware, we answer the console longevity pillar: the analysis proves that the Sony PS2 is the single strongest-selling platform in gaming history, generating 1.23 billion dollars. Our DAX measures reveal that the average lifespan of a platform in the market is 8.87 years. Some hardware lived for decades, like PC at 32 years, while others such as the Atari 2600 and Sega Genesis lived commercially for exactly 10 years.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third screen, covering publishers and companies, we uncover the secret behind Million-Sellers: Nintendo is the undisputed historical leader with total sales of 1.78 billion dollars and the highest density of commercial hits at 315 Million-Seller games. The dashboard also surfaces the legendary title leaderboard, topped by Wii Sports with a historic and almost unbelievable figure of 82.74 million copies sold worldwide.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translate this data into concrete business decisions and strategic recommendations. First, 49% of marketing and localization budgets should be directed toward the North American market, as it remains the largest financial engine. Second, Action and Sports titles are the safest global bet, but any RPG title should be specifically localized for the Japanese market, where the genre historically dominates. Third, development studios should align their production cycles and budgets with the average 8.87-year platform lifespan to maximize returns before a platform commercially declines.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we've reached the end of the pipeline and the end of our presentation today. Thank you very much for your attention and for your valuable time. We are fully prepared and ready now for the discussion questions and our boss fight with the committee.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B10">
            <a:alpha val="95000"/>
          </a:srgbClr>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Shape 2"/>
          <p:cNvSpPr/>
          <p:nvPr/>
        </p:nvSpPr>
        <p:spPr>
          <a:xfrm>
            <a:off x="914400" y="822960"/>
            <a:ext cx="10360152" cy="5212080"/>
          </a:xfrm>
          <a:prstGeom prst="roundRect">
            <a:avLst>
              <a:gd name="adj" fmla="val 1053"/>
            </a:avLst>
          </a:prstGeom>
          <a:solidFill>
            <a:srgbClr val="0D0F17"/>
          </a:solidFill>
          <a:ln w="15875">
            <a:solidFill>
              <a:srgbClr val="00F0FF"/>
            </a:solidFill>
            <a:prstDash val="solid"/>
          </a:ln>
        </p:spPr>
        <p:txBody>
          <a:bodyPr/>
          <a:lstStyle/>
          <a:p>
            <a:endParaRPr lang="en-US"/>
          </a:p>
        </p:txBody>
      </p:sp>
      <p:sp>
        <p:nvSpPr>
          <p:cNvPr id="5" name="Shape 3"/>
          <p:cNvSpPr/>
          <p:nvPr/>
        </p:nvSpPr>
        <p:spPr>
          <a:xfrm>
            <a:off x="1234440" y="1417320"/>
            <a:ext cx="9720072" cy="0"/>
          </a:xfrm>
          <a:prstGeom prst="line">
            <a:avLst/>
          </a:prstGeom>
          <a:noFill/>
          <a:ln w="12700">
            <a:solidFill>
              <a:srgbClr val="1D2130"/>
            </a:solidFill>
            <a:prstDash val="solid"/>
          </a:ln>
        </p:spPr>
        <p:txBody>
          <a:bodyPr/>
          <a:lstStyle/>
          <a:p>
            <a:endParaRPr lang="en-US"/>
          </a:p>
        </p:txBody>
      </p:sp>
      <p:sp>
        <p:nvSpPr>
          <p:cNvPr id="6" name="Text 4"/>
          <p:cNvSpPr/>
          <p:nvPr/>
        </p:nvSpPr>
        <p:spPr>
          <a:xfrm>
            <a:off x="1234440" y="1051560"/>
            <a:ext cx="9692640" cy="320040"/>
          </a:xfrm>
          <a:prstGeom prst="rect">
            <a:avLst/>
          </a:prstGeom>
          <a:noFill/>
          <a:ln/>
        </p:spPr>
        <p:txBody>
          <a:bodyPr wrap="square" rtlCol="0" anchor="ctr"/>
          <a:lstStyle/>
          <a:p>
            <a:pPr marL="0" indent="0" algn="ctr">
              <a:buNone/>
            </a:pPr>
            <a:r>
              <a:rPr lang="en-US" sz="1300" b="1" kern="0" spc="200" dirty="0">
                <a:solidFill>
                  <a:srgbClr val="00F0FF"/>
                </a:solidFill>
                <a:latin typeface="Calibri" pitchFamily="34" charset="0"/>
                <a:ea typeface="Calibri" pitchFamily="34" charset="-122"/>
                <a:cs typeface="Calibri" pitchFamily="34" charset="-120"/>
              </a:rPr>
              <a:t>[ DEPI — DATA ANALYTICS TRACK ]</a:t>
            </a:r>
            <a:endParaRPr lang="en-US" sz="1300" dirty="0"/>
          </a:p>
        </p:txBody>
      </p:sp>
      <p:sp>
        <p:nvSpPr>
          <p:cNvPr id="7" name="Text 5"/>
          <p:cNvSpPr/>
          <p:nvPr/>
        </p:nvSpPr>
        <p:spPr>
          <a:xfrm>
            <a:off x="1234440" y="1965960"/>
            <a:ext cx="9692640" cy="1463040"/>
          </a:xfrm>
          <a:prstGeom prst="rect">
            <a:avLst/>
          </a:prstGeom>
          <a:noFill/>
          <a:ln/>
        </p:spPr>
        <p:txBody>
          <a:bodyPr wrap="square" rtlCol="0" anchor="ctr"/>
          <a:lstStyle/>
          <a:p>
            <a:pPr marL="0" indent="0" algn="ctr">
              <a:lnSpc>
                <a:spcPct val="105000"/>
              </a:lnSpc>
              <a:buNone/>
            </a:pPr>
            <a:r>
              <a:rPr lang="en-US" sz="4000" b="1" dirty="0">
                <a:solidFill>
                  <a:srgbClr val="FFFFFF"/>
                </a:solidFill>
                <a:latin typeface="Arial" pitchFamily="34" charset="0"/>
                <a:ea typeface="Arial" pitchFamily="34" charset="-122"/>
                <a:cs typeface="Arial" pitchFamily="34" charset="-120"/>
              </a:rPr>
              <a:t>VIDEO GAMES</a:t>
            </a:r>
            <a:endParaRPr lang="en-US" sz="4000" dirty="0"/>
          </a:p>
          <a:p>
            <a:pPr marL="0" indent="0" algn="ctr">
              <a:lnSpc>
                <a:spcPct val="105000"/>
              </a:lnSpc>
              <a:buNone/>
            </a:pPr>
            <a:r>
              <a:rPr lang="en-US" sz="4000" b="1" dirty="0">
                <a:solidFill>
                  <a:srgbClr val="FFFFFF"/>
                </a:solidFill>
                <a:latin typeface="Arial" pitchFamily="34" charset="0"/>
                <a:ea typeface="Arial" pitchFamily="34" charset="-122"/>
                <a:cs typeface="Arial" pitchFamily="34" charset="-120"/>
              </a:rPr>
              <a:t>GLOBAL MARKET ANALYSIS</a:t>
            </a:r>
            <a:endParaRPr lang="en-US" sz="4000" dirty="0"/>
          </a:p>
        </p:txBody>
      </p:sp>
      <p:sp>
        <p:nvSpPr>
          <p:cNvPr id="8" name="Text 6"/>
          <p:cNvSpPr/>
          <p:nvPr/>
        </p:nvSpPr>
        <p:spPr>
          <a:xfrm>
            <a:off x="1234440" y="3429000"/>
            <a:ext cx="9692640" cy="365760"/>
          </a:xfrm>
          <a:prstGeom prst="rect">
            <a:avLst/>
          </a:prstGeom>
          <a:noFill/>
          <a:ln/>
        </p:spPr>
        <p:txBody>
          <a:bodyPr wrap="square" rtlCol="0" anchor="ctr"/>
          <a:lstStyle/>
          <a:p>
            <a:pPr algn="ctr"/>
            <a:r>
              <a:rPr lang="en-US" sz="1400" b="1" kern="0" spc="100" dirty="0">
                <a:solidFill>
                  <a:srgbClr val="FF007F"/>
                </a:solidFill>
                <a:latin typeface="Calibri" pitchFamily="34" charset="0"/>
                <a:ea typeface="Calibri" pitchFamily="34" charset="-122"/>
                <a:cs typeface="Calibri" pitchFamily="34" charset="-120"/>
              </a:rPr>
              <a:t>1980 — 2020  |  Final Project</a:t>
            </a:r>
            <a:endParaRPr lang="en-US" sz="1400" dirty="0"/>
          </a:p>
        </p:txBody>
      </p:sp>
      <p:sp>
        <p:nvSpPr>
          <p:cNvPr id="9" name="Shape 7"/>
          <p:cNvSpPr/>
          <p:nvPr/>
        </p:nvSpPr>
        <p:spPr>
          <a:xfrm>
            <a:off x="1234440" y="3977640"/>
            <a:ext cx="9720072" cy="0"/>
          </a:xfrm>
          <a:prstGeom prst="line">
            <a:avLst/>
          </a:prstGeom>
          <a:noFill/>
          <a:ln w="12700">
            <a:solidFill>
              <a:srgbClr val="1D2130"/>
            </a:solidFill>
            <a:prstDash val="solid"/>
          </a:ln>
        </p:spPr>
        <p:txBody>
          <a:bodyPr/>
          <a:lstStyle/>
          <a:p>
            <a:endParaRPr lang="en-US"/>
          </a:p>
        </p:txBody>
      </p:sp>
      <p:sp>
        <p:nvSpPr>
          <p:cNvPr id="10" name="Text 8"/>
          <p:cNvSpPr/>
          <p:nvPr/>
        </p:nvSpPr>
        <p:spPr>
          <a:xfrm>
            <a:off x="1234440" y="4160520"/>
            <a:ext cx="9692640" cy="274320"/>
          </a:xfrm>
          <a:prstGeom prst="rect">
            <a:avLst/>
          </a:prstGeom>
          <a:noFill/>
          <a:ln/>
        </p:spPr>
        <p:txBody>
          <a:bodyPr wrap="square" rtlCol="0" anchor="ctr"/>
          <a:lstStyle/>
          <a:p>
            <a:pPr algn="ctr"/>
            <a:r>
              <a:rPr lang="en-US" sz="1100" b="1" kern="0" spc="200" dirty="0">
                <a:solidFill>
                  <a:srgbClr val="8B93A8"/>
                </a:solidFill>
                <a:latin typeface="Calibri" pitchFamily="34" charset="0"/>
                <a:ea typeface="Calibri" pitchFamily="34" charset="-122"/>
                <a:cs typeface="Calibri" pitchFamily="34" charset="-120"/>
              </a:rPr>
              <a:t>TEAM </a:t>
            </a:r>
            <a:r>
              <a:rPr lang="en-US" sz="1100" b="1" kern="0" spc="200" dirty="0">
                <a:solidFill>
                  <a:srgbClr val="8B93A8"/>
                </a:solidFill>
                <a:latin typeface="Calibri" pitchFamily="34" charset="0"/>
                <a:cs typeface="Calibri" pitchFamily="34" charset="-120"/>
              </a:rPr>
              <a:t>MEMBERS</a:t>
            </a:r>
          </a:p>
        </p:txBody>
      </p:sp>
      <p:sp>
        <p:nvSpPr>
          <p:cNvPr id="11" name="Text 9"/>
          <p:cNvSpPr/>
          <p:nvPr/>
        </p:nvSpPr>
        <p:spPr>
          <a:xfrm>
            <a:off x="2377440" y="4480560"/>
            <a:ext cx="7406640" cy="1188720"/>
          </a:xfrm>
          <a:prstGeom prst="rect">
            <a:avLst/>
          </a:prstGeom>
          <a:noFill/>
          <a:ln/>
        </p:spPr>
        <p:txBody>
          <a:bodyPr wrap="square" rtlCol="0" anchor="ctr"/>
          <a:lstStyle/>
          <a:p>
            <a:pPr marL="0" indent="0" algn="l">
              <a:spcAft>
                <a:spcPts val="600"/>
              </a:spcAft>
              <a:buNone/>
            </a:pPr>
            <a:r>
              <a:rPr lang="en-US" sz="1400" dirty="0">
                <a:solidFill>
                  <a:srgbClr val="FFFFFF"/>
                </a:solidFill>
                <a:latin typeface="Calibri" pitchFamily="34" charset="0"/>
                <a:ea typeface="Calibri" pitchFamily="34" charset="-122"/>
                <a:cs typeface="Calibri" pitchFamily="34" charset="-120"/>
              </a:rPr>
              <a:t>1.  Mohamed Magdy Sayed Abd Elwahab</a:t>
            </a:r>
            <a:endParaRPr lang="en-US" sz="1400" dirty="0"/>
          </a:p>
          <a:p>
            <a:pPr marL="0" indent="0" algn="l">
              <a:spcAft>
                <a:spcPts val="600"/>
              </a:spcAft>
              <a:buNone/>
            </a:pPr>
            <a:r>
              <a:rPr lang="en-US" sz="1400" dirty="0">
                <a:solidFill>
                  <a:srgbClr val="FFFFFF"/>
                </a:solidFill>
                <a:latin typeface="Calibri" pitchFamily="34" charset="0"/>
                <a:ea typeface="Calibri" pitchFamily="34" charset="-122"/>
                <a:cs typeface="Calibri" pitchFamily="34" charset="-120"/>
              </a:rPr>
              <a:t>2.  Mohamed Hany Abdullah Abdullah</a:t>
            </a:r>
            <a:endParaRPr lang="en-US" sz="1400" dirty="0"/>
          </a:p>
          <a:p>
            <a:pPr marL="0" indent="0" algn="l">
              <a:spcAft>
                <a:spcPts val="600"/>
              </a:spcAft>
              <a:buNone/>
            </a:pPr>
            <a:r>
              <a:rPr lang="en-US" sz="1400" dirty="0">
                <a:solidFill>
                  <a:srgbClr val="FFFFFF"/>
                </a:solidFill>
                <a:latin typeface="Calibri" pitchFamily="34" charset="0"/>
                <a:ea typeface="Calibri" pitchFamily="34" charset="-122"/>
                <a:cs typeface="Calibri" pitchFamily="34" charset="-120"/>
              </a:rPr>
              <a:t>3.  Ahmed Hussein Mohamed Elhadidy</a:t>
            </a:r>
            <a:endParaRPr lang="en-US" sz="1400" dirty="0"/>
          </a:p>
          <a:p>
            <a:pPr marL="0" indent="0" algn="l">
              <a:spcAft>
                <a:spcPts val="600"/>
              </a:spcAft>
              <a:buNone/>
            </a:pPr>
            <a:r>
              <a:rPr lang="en-US" sz="1400" dirty="0">
                <a:solidFill>
                  <a:srgbClr val="FFFFFF"/>
                </a:solidFill>
                <a:latin typeface="Calibri" pitchFamily="34" charset="0"/>
                <a:ea typeface="Calibri" pitchFamily="34" charset="-122"/>
                <a:cs typeface="Calibri" pitchFamily="34" charset="-120"/>
              </a:rPr>
              <a:t>4.  Amr Mohamed Abdelshahid Mostafa</a:t>
            </a:r>
            <a:endParaRPr lang="en-US" sz="1400" dirty="0"/>
          </a:p>
        </p:txBody>
      </p:sp>
      <p:sp>
        <p:nvSpPr>
          <p:cNvPr id="12" name="Text 10"/>
          <p:cNvSpPr/>
          <p:nvPr/>
        </p:nvSpPr>
        <p:spPr>
          <a:xfrm>
            <a:off x="1234440" y="5760720"/>
            <a:ext cx="9692640" cy="274320"/>
          </a:xfrm>
          <a:prstGeom prst="rect">
            <a:avLst/>
          </a:prstGeom>
          <a:noFill/>
          <a:ln/>
        </p:spPr>
        <p:txBody>
          <a:bodyPr wrap="square" rtlCol="0" anchor="ctr"/>
          <a:lstStyle/>
          <a:p>
            <a:pPr marL="0" indent="0" algn="ctr">
              <a:buNone/>
            </a:pPr>
            <a:r>
              <a:rPr lang="en-US" sz="1100" b="1" kern="0" spc="200" dirty="0">
                <a:solidFill>
                  <a:srgbClr val="8B93A8"/>
                </a:solidFill>
                <a:latin typeface="Calibri" pitchFamily="34" charset="0"/>
                <a:ea typeface="Calibri" pitchFamily="34" charset="-122"/>
                <a:cs typeface="Calibri" pitchFamily="34" charset="-120"/>
              </a:rPr>
              <a:t>SUBMISSION DATE: JULY 2026</a:t>
            </a:r>
            <a:endParaRPr lang="en-US" sz="1100" dirty="0"/>
          </a:p>
        </p:txBody>
      </p:sp>
      <p:pic>
        <p:nvPicPr>
          <p:cNvPr id="14" name="Picture 13">
            <a:extLst>
              <a:ext uri="{FF2B5EF4-FFF2-40B4-BE49-F238E27FC236}">
                <a16:creationId xmlns:a16="http://schemas.microsoft.com/office/drawing/2014/main" id="{5A2B96DE-A05E-B234-04BB-5885E7508317}"/>
              </a:ext>
            </a:extLst>
          </p:cNvPr>
          <p:cNvPicPr>
            <a:picLocks noChangeAspect="1"/>
          </p:cNvPicPr>
          <p:nvPr/>
        </p:nvPicPr>
        <p:blipFill>
          <a:blip r:embed="rId3"/>
          <a:stretch>
            <a:fillRect/>
          </a:stretch>
        </p:blipFill>
        <p:spPr>
          <a:xfrm>
            <a:off x="914400" y="100585"/>
            <a:ext cx="1280160" cy="676655"/>
          </a:xfrm>
          <a:prstGeom prst="rect">
            <a:avLst/>
          </a:prstGeom>
        </p:spPr>
      </p:pic>
      <p:pic>
        <p:nvPicPr>
          <p:cNvPr id="16" name="Picture 15">
            <a:extLst>
              <a:ext uri="{FF2B5EF4-FFF2-40B4-BE49-F238E27FC236}">
                <a16:creationId xmlns:a16="http://schemas.microsoft.com/office/drawing/2014/main" id="{CE03980B-DEAB-41FA-BD30-344DFC9BD792}"/>
              </a:ext>
            </a:extLst>
          </p:cNvPr>
          <p:cNvPicPr>
            <a:picLocks noChangeAspect="1"/>
          </p:cNvPicPr>
          <p:nvPr/>
        </p:nvPicPr>
        <p:blipFill>
          <a:blip r:embed="rId4"/>
          <a:stretch>
            <a:fillRect/>
          </a:stretch>
        </p:blipFill>
        <p:spPr>
          <a:xfrm>
            <a:off x="5645461" y="91440"/>
            <a:ext cx="898030" cy="685800"/>
          </a:xfrm>
          <a:prstGeom prst="rect">
            <a:avLst/>
          </a:prstGeom>
        </p:spPr>
      </p:pic>
      <p:pic>
        <p:nvPicPr>
          <p:cNvPr id="18" name="Picture 17">
            <a:extLst>
              <a:ext uri="{FF2B5EF4-FFF2-40B4-BE49-F238E27FC236}">
                <a16:creationId xmlns:a16="http://schemas.microsoft.com/office/drawing/2014/main" id="{5ACD099B-9487-BC96-38B9-52C967228F77}"/>
              </a:ext>
            </a:extLst>
          </p:cNvPr>
          <p:cNvPicPr>
            <a:picLocks noChangeAspect="1"/>
          </p:cNvPicPr>
          <p:nvPr/>
        </p:nvPicPr>
        <p:blipFill>
          <a:blip r:embed="rId5"/>
          <a:stretch>
            <a:fillRect/>
          </a:stretch>
        </p:blipFill>
        <p:spPr>
          <a:xfrm>
            <a:off x="9994392" y="100584"/>
            <a:ext cx="1280160" cy="676656"/>
          </a:xfrm>
          <a:prstGeom prst="rect">
            <a:avLst/>
          </a:prstGeom>
          <a:solidFill>
            <a:schemeClr val="bg1"/>
          </a:solid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PROJECT OVERVIEW</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Project Quest &amp; Scope</a:t>
            </a:r>
            <a:endParaRPr lang="en-US" sz="3000" dirty="0"/>
          </a:p>
        </p:txBody>
      </p:sp>
      <p:sp>
        <p:nvSpPr>
          <p:cNvPr id="6" name="Shape 4"/>
          <p:cNvSpPr/>
          <p:nvPr/>
        </p:nvSpPr>
        <p:spPr>
          <a:xfrm>
            <a:off x="548640" y="1600200"/>
            <a:ext cx="5394960" cy="2404872"/>
          </a:xfrm>
          <a:prstGeom prst="roundRect">
            <a:avLst>
              <a:gd name="adj" fmla="val 3404"/>
            </a:avLst>
          </a:prstGeom>
          <a:solidFill>
            <a:srgbClr val="13151F"/>
          </a:solidFill>
          <a:ln w="12700">
            <a:solidFill>
              <a:srgbClr val="00F0FF"/>
            </a:solidFill>
            <a:prstDash val="solid"/>
          </a:ln>
        </p:spPr>
        <p:txBody>
          <a:bodyPr/>
          <a:lstStyle/>
          <a:p>
            <a:endParaRPr lang="en-US"/>
          </a:p>
        </p:txBody>
      </p:sp>
      <p:sp>
        <p:nvSpPr>
          <p:cNvPr id="7" name="Text 5"/>
          <p:cNvSpPr/>
          <p:nvPr/>
        </p:nvSpPr>
        <p:spPr>
          <a:xfrm>
            <a:off x="868680" y="1810512"/>
            <a:ext cx="4754880" cy="320040"/>
          </a:xfrm>
          <a:prstGeom prst="rect">
            <a:avLst/>
          </a:prstGeom>
          <a:noFill/>
          <a:ln/>
        </p:spPr>
        <p:txBody>
          <a:bodyPr wrap="square" rtlCol="0" anchor="ctr"/>
          <a:lstStyle/>
          <a:p>
            <a:pPr marL="0" indent="0">
              <a:buNone/>
            </a:pPr>
            <a:r>
              <a:rPr lang="en-US" sz="1300" b="1" kern="0" spc="150" dirty="0">
                <a:solidFill>
                  <a:srgbClr val="FF007F"/>
                </a:solidFill>
                <a:latin typeface="Calibri" pitchFamily="34" charset="0"/>
                <a:ea typeface="Calibri" pitchFamily="34" charset="-122"/>
                <a:cs typeface="Calibri" pitchFamily="34" charset="-120"/>
              </a:rPr>
              <a:t>THE CHALLENGE</a:t>
            </a:r>
            <a:endParaRPr lang="en-US" sz="1300" dirty="0"/>
          </a:p>
        </p:txBody>
      </p:sp>
      <p:sp>
        <p:nvSpPr>
          <p:cNvPr id="8" name="Text 6"/>
          <p:cNvSpPr/>
          <p:nvPr/>
        </p:nvSpPr>
        <p:spPr>
          <a:xfrm>
            <a:off x="868680" y="2148840"/>
            <a:ext cx="475488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Harmonizing 40 years of fragmented gaming sales data across multiple console generations and regional distribution networks.</a:t>
            </a:r>
            <a:endParaRPr lang="en-US" sz="1300" dirty="0"/>
          </a:p>
        </p:txBody>
      </p:sp>
      <p:sp>
        <p:nvSpPr>
          <p:cNvPr id="9" name="Shape 7"/>
          <p:cNvSpPr/>
          <p:nvPr/>
        </p:nvSpPr>
        <p:spPr>
          <a:xfrm>
            <a:off x="868680" y="3017520"/>
            <a:ext cx="4754880" cy="0"/>
          </a:xfrm>
          <a:prstGeom prst="line">
            <a:avLst/>
          </a:prstGeom>
          <a:noFill/>
          <a:ln w="12700">
            <a:solidFill>
              <a:srgbClr val="1D2130"/>
            </a:solidFill>
            <a:prstDash val="solid"/>
          </a:ln>
        </p:spPr>
        <p:txBody>
          <a:bodyPr/>
          <a:lstStyle/>
          <a:p>
            <a:endParaRPr lang="en-US"/>
          </a:p>
        </p:txBody>
      </p:sp>
      <p:sp>
        <p:nvSpPr>
          <p:cNvPr id="10" name="Text 8"/>
          <p:cNvSpPr/>
          <p:nvPr/>
        </p:nvSpPr>
        <p:spPr>
          <a:xfrm>
            <a:off x="868680" y="3127248"/>
            <a:ext cx="4754880" cy="274320"/>
          </a:xfrm>
          <a:prstGeom prst="rect">
            <a:avLst/>
          </a:prstGeom>
          <a:noFill/>
          <a:ln/>
        </p:spPr>
        <p:txBody>
          <a:bodyPr wrap="square" rtlCol="0" anchor="ctr"/>
          <a:lstStyle/>
          <a:p>
            <a:pPr marL="0" indent="0">
              <a:buNone/>
            </a:pPr>
            <a:r>
              <a:rPr lang="en-US" sz="1300" b="1" kern="0" spc="150" dirty="0">
                <a:solidFill>
                  <a:srgbClr val="00F0FF"/>
                </a:solidFill>
                <a:latin typeface="Calibri" pitchFamily="34" charset="0"/>
                <a:ea typeface="Calibri" pitchFamily="34" charset="-122"/>
                <a:cs typeface="Calibri" pitchFamily="34" charset="-120"/>
              </a:rPr>
              <a:t>THE MISSION CORE</a:t>
            </a:r>
            <a:endParaRPr lang="en-US" sz="1300" dirty="0"/>
          </a:p>
        </p:txBody>
      </p:sp>
      <p:sp>
        <p:nvSpPr>
          <p:cNvPr id="11" name="Text 9"/>
          <p:cNvSpPr/>
          <p:nvPr/>
        </p:nvSpPr>
        <p:spPr>
          <a:xfrm>
            <a:off x="868680" y="3401568"/>
            <a:ext cx="4754880" cy="5486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Ingest, clean, model, and visualize historical sales data to extract multi-layered market insights.</a:t>
            </a:r>
            <a:endParaRPr lang="en-US" sz="1300" dirty="0"/>
          </a:p>
        </p:txBody>
      </p:sp>
      <p:sp>
        <p:nvSpPr>
          <p:cNvPr id="12" name="Shape 10"/>
          <p:cNvSpPr/>
          <p:nvPr/>
        </p:nvSpPr>
        <p:spPr>
          <a:xfrm>
            <a:off x="6217920" y="1600200"/>
            <a:ext cx="5422392" cy="2404872"/>
          </a:xfrm>
          <a:prstGeom prst="roundRect">
            <a:avLst>
              <a:gd name="adj" fmla="val 3404"/>
            </a:avLst>
          </a:prstGeom>
          <a:solidFill>
            <a:srgbClr val="171A26"/>
          </a:solidFill>
          <a:ln w="12700">
            <a:solidFill>
              <a:srgbClr val="00F0FF"/>
            </a:solidFill>
            <a:prstDash val="solid"/>
          </a:ln>
        </p:spPr>
        <p:txBody>
          <a:bodyPr/>
          <a:lstStyle/>
          <a:p>
            <a:endParaRPr lang="en-US"/>
          </a:p>
        </p:txBody>
      </p:sp>
      <p:sp>
        <p:nvSpPr>
          <p:cNvPr id="13" name="Text 11"/>
          <p:cNvSpPr/>
          <p:nvPr/>
        </p:nvSpPr>
        <p:spPr>
          <a:xfrm>
            <a:off x="6537960" y="1810512"/>
            <a:ext cx="4754880" cy="274320"/>
          </a:xfrm>
          <a:prstGeom prst="rect">
            <a:avLst/>
          </a:prstGeom>
          <a:noFill/>
          <a:ln/>
        </p:spPr>
        <p:txBody>
          <a:bodyPr wrap="square" rtlCol="0" anchor="ctr"/>
          <a:lstStyle/>
          <a:p>
            <a:pPr marL="0" indent="0">
              <a:buNone/>
            </a:pPr>
            <a:r>
              <a:rPr lang="en-US" sz="1300" b="1" kern="0" spc="150" dirty="0">
                <a:solidFill>
                  <a:srgbClr val="00F0FF"/>
                </a:solidFill>
                <a:latin typeface="Calibri" pitchFamily="34" charset="0"/>
                <a:ea typeface="Calibri" pitchFamily="34" charset="-122"/>
                <a:cs typeface="Calibri" pitchFamily="34" charset="-120"/>
              </a:rPr>
              <a:t>TARGET METRICS</a:t>
            </a:r>
            <a:endParaRPr lang="en-US" sz="1300" dirty="0"/>
          </a:p>
        </p:txBody>
      </p:sp>
      <p:sp>
        <p:nvSpPr>
          <p:cNvPr id="14" name="Text 12"/>
          <p:cNvSpPr/>
          <p:nvPr/>
        </p:nvSpPr>
        <p:spPr>
          <a:xfrm>
            <a:off x="6537960" y="2194560"/>
            <a:ext cx="1691640" cy="548640"/>
          </a:xfrm>
          <a:prstGeom prst="rect">
            <a:avLst/>
          </a:prstGeom>
          <a:noFill/>
          <a:ln/>
        </p:spPr>
        <p:txBody>
          <a:bodyPr wrap="square" rtlCol="0" anchor="ctr"/>
          <a:lstStyle/>
          <a:p>
            <a:pPr marL="0" indent="0">
              <a:buNone/>
            </a:pPr>
            <a:r>
              <a:rPr lang="en-US" sz="2200" b="1" dirty="0">
                <a:solidFill>
                  <a:srgbClr val="FF007F"/>
                </a:solidFill>
                <a:latin typeface="Arial" pitchFamily="34" charset="0"/>
                <a:ea typeface="Arial" pitchFamily="34" charset="-122"/>
                <a:cs typeface="Arial" pitchFamily="34" charset="-120"/>
              </a:rPr>
              <a:t>8.81B USD</a:t>
            </a:r>
            <a:endParaRPr lang="en-US" sz="2200" dirty="0"/>
          </a:p>
        </p:txBody>
      </p:sp>
      <p:sp>
        <p:nvSpPr>
          <p:cNvPr id="15" name="Text 13"/>
          <p:cNvSpPr/>
          <p:nvPr/>
        </p:nvSpPr>
        <p:spPr>
          <a:xfrm>
            <a:off x="6537960" y="2743200"/>
            <a:ext cx="1691640" cy="777240"/>
          </a:xfrm>
          <a:prstGeom prst="rect">
            <a:avLst/>
          </a:prstGeom>
          <a:noFill/>
          <a:ln/>
        </p:spPr>
        <p:txBody>
          <a:bodyPr wrap="square" rtlCol="0" anchor="ctr"/>
          <a:lstStyle/>
          <a:p>
            <a:pPr marL="0" indent="0">
              <a:buNone/>
            </a:pPr>
            <a:r>
              <a:rPr lang="en-US" sz="1050" dirty="0">
                <a:solidFill>
                  <a:srgbClr val="8B93A8"/>
                </a:solidFill>
                <a:latin typeface="Calibri" pitchFamily="34" charset="0"/>
                <a:ea typeface="Calibri" pitchFamily="34" charset="-122"/>
                <a:cs typeface="Calibri" pitchFamily="34" charset="-120"/>
              </a:rPr>
              <a:t>Total Global Sales</a:t>
            </a:r>
            <a:endParaRPr lang="en-US" sz="1050" dirty="0"/>
          </a:p>
        </p:txBody>
      </p:sp>
      <p:sp>
        <p:nvSpPr>
          <p:cNvPr id="16" name="Text 14"/>
          <p:cNvSpPr/>
          <p:nvPr/>
        </p:nvSpPr>
        <p:spPr>
          <a:xfrm>
            <a:off x="8275320" y="2194560"/>
            <a:ext cx="1691640" cy="548640"/>
          </a:xfrm>
          <a:prstGeom prst="rect">
            <a:avLst/>
          </a:prstGeom>
          <a:noFill/>
          <a:ln/>
        </p:spPr>
        <p:txBody>
          <a:bodyPr wrap="square" rtlCol="0" anchor="ctr"/>
          <a:lstStyle/>
          <a:p>
            <a:pPr marL="0" indent="0">
              <a:buNone/>
            </a:pPr>
            <a:r>
              <a:rPr lang="en-US" sz="2200" b="1" dirty="0">
                <a:solidFill>
                  <a:srgbClr val="FF007F"/>
                </a:solidFill>
                <a:latin typeface="Arial" pitchFamily="34" charset="0"/>
                <a:ea typeface="Arial" pitchFamily="34" charset="-122"/>
                <a:cs typeface="Arial" pitchFamily="34" charset="-120"/>
              </a:rPr>
              <a:t>11,920</a:t>
            </a:r>
            <a:endParaRPr lang="en-US" sz="2200" dirty="0"/>
          </a:p>
        </p:txBody>
      </p:sp>
      <p:sp>
        <p:nvSpPr>
          <p:cNvPr id="17" name="Text 15"/>
          <p:cNvSpPr/>
          <p:nvPr/>
        </p:nvSpPr>
        <p:spPr>
          <a:xfrm>
            <a:off x="8275320" y="2743200"/>
            <a:ext cx="1691640" cy="777240"/>
          </a:xfrm>
          <a:prstGeom prst="rect">
            <a:avLst/>
          </a:prstGeom>
          <a:noFill/>
          <a:ln/>
        </p:spPr>
        <p:txBody>
          <a:bodyPr wrap="square" rtlCol="0" anchor="ctr"/>
          <a:lstStyle/>
          <a:p>
            <a:pPr marL="0" indent="0">
              <a:buNone/>
            </a:pPr>
            <a:r>
              <a:rPr lang="en-US" sz="1050" dirty="0">
                <a:solidFill>
                  <a:srgbClr val="8B93A8"/>
                </a:solidFill>
                <a:latin typeface="Calibri" pitchFamily="34" charset="0"/>
                <a:ea typeface="Calibri" pitchFamily="34" charset="-122"/>
                <a:cs typeface="Calibri" pitchFamily="34" charset="-120"/>
              </a:rPr>
              <a:t>Total Games Analyzed</a:t>
            </a:r>
            <a:endParaRPr lang="en-US" sz="1050" dirty="0"/>
          </a:p>
        </p:txBody>
      </p:sp>
      <p:sp>
        <p:nvSpPr>
          <p:cNvPr id="18" name="Text 16"/>
          <p:cNvSpPr/>
          <p:nvPr/>
        </p:nvSpPr>
        <p:spPr>
          <a:xfrm>
            <a:off x="10012680" y="2194560"/>
            <a:ext cx="1691640" cy="548640"/>
          </a:xfrm>
          <a:prstGeom prst="rect">
            <a:avLst/>
          </a:prstGeom>
          <a:noFill/>
          <a:ln/>
        </p:spPr>
        <p:txBody>
          <a:bodyPr wrap="square" rtlCol="0" anchor="ctr"/>
          <a:lstStyle/>
          <a:p>
            <a:pPr marL="0" indent="0">
              <a:buNone/>
            </a:pPr>
            <a:r>
              <a:rPr lang="en-US" sz="2200" b="1" dirty="0">
                <a:solidFill>
                  <a:srgbClr val="FF007F"/>
                </a:solidFill>
                <a:latin typeface="Arial" pitchFamily="34" charset="0"/>
                <a:ea typeface="Arial" pitchFamily="34" charset="-122"/>
                <a:cs typeface="Arial" pitchFamily="34" charset="-120"/>
              </a:rPr>
              <a:t>13.53%</a:t>
            </a:r>
            <a:endParaRPr lang="en-US" sz="2200" dirty="0"/>
          </a:p>
        </p:txBody>
      </p:sp>
      <p:sp>
        <p:nvSpPr>
          <p:cNvPr id="19" name="Text 17"/>
          <p:cNvSpPr/>
          <p:nvPr/>
        </p:nvSpPr>
        <p:spPr>
          <a:xfrm>
            <a:off x="10012680" y="2743200"/>
            <a:ext cx="1691640" cy="777240"/>
          </a:xfrm>
          <a:prstGeom prst="rect">
            <a:avLst/>
          </a:prstGeom>
          <a:noFill/>
          <a:ln/>
        </p:spPr>
        <p:txBody>
          <a:bodyPr wrap="square" rtlCol="0" anchor="ctr"/>
          <a:lstStyle/>
          <a:p>
            <a:pPr marL="0" indent="0">
              <a:buNone/>
            </a:pPr>
            <a:r>
              <a:rPr lang="en-US" sz="1050" dirty="0">
                <a:solidFill>
                  <a:srgbClr val="8B93A8"/>
                </a:solidFill>
                <a:latin typeface="Calibri" pitchFamily="34" charset="0"/>
                <a:ea typeface="Calibri" pitchFamily="34" charset="-122"/>
                <a:cs typeface="Calibri" pitchFamily="34" charset="-120"/>
              </a:rPr>
              <a:t>Achieved “Million-Seller” Status</a:t>
            </a:r>
            <a:endParaRPr lang="en-US" sz="1050" dirty="0"/>
          </a:p>
        </p:txBody>
      </p:sp>
      <p:sp>
        <p:nvSpPr>
          <p:cNvPr id="20" name="Shape 18"/>
          <p:cNvSpPr/>
          <p:nvPr/>
        </p:nvSpPr>
        <p:spPr>
          <a:xfrm>
            <a:off x="548640" y="4096512"/>
            <a:ext cx="11091672" cy="1965960"/>
          </a:xfrm>
          <a:prstGeom prst="roundRect">
            <a:avLst>
              <a:gd name="adj" fmla="val 3721"/>
            </a:avLst>
          </a:prstGeom>
          <a:solidFill>
            <a:srgbClr val="0D0F17"/>
          </a:solidFill>
          <a:ln w="12700">
            <a:solidFill>
              <a:srgbClr val="1D2130"/>
            </a:solidFill>
            <a:prstDash val="solid"/>
          </a:ln>
        </p:spPr>
        <p:txBody>
          <a:bodyPr/>
          <a:lstStyle/>
          <a:p>
            <a:endParaRPr lang="en-US"/>
          </a:p>
        </p:txBody>
      </p:sp>
      <p:sp>
        <p:nvSpPr>
          <p:cNvPr id="21" name="Text 19"/>
          <p:cNvSpPr/>
          <p:nvPr/>
        </p:nvSpPr>
        <p:spPr>
          <a:xfrm>
            <a:off x="868680" y="4279392"/>
            <a:ext cx="4572000" cy="274320"/>
          </a:xfrm>
          <a:prstGeom prst="rect">
            <a:avLst/>
          </a:prstGeom>
          <a:noFill/>
          <a:ln/>
        </p:spPr>
        <p:txBody>
          <a:bodyPr wrap="square" rtlCol="0" anchor="ctr"/>
          <a:lstStyle/>
          <a:p>
            <a:pPr marL="0" indent="0">
              <a:buNone/>
            </a:pPr>
            <a:r>
              <a:rPr lang="en-US" sz="1200" b="1" kern="0" spc="150" dirty="0">
                <a:solidFill>
                  <a:srgbClr val="8B93A8"/>
                </a:solidFill>
                <a:latin typeface="Calibri" pitchFamily="34" charset="0"/>
                <a:ea typeface="Calibri" pitchFamily="34" charset="-122"/>
                <a:cs typeface="Calibri" pitchFamily="34" charset="-120"/>
              </a:rPr>
              <a:t>SCOPE COVERAGE</a:t>
            </a:r>
            <a:endParaRPr lang="en-US" sz="1200" dirty="0"/>
          </a:p>
        </p:txBody>
      </p:sp>
      <p:sp>
        <p:nvSpPr>
          <p:cNvPr id="22" name="Text 20"/>
          <p:cNvSpPr/>
          <p:nvPr/>
        </p:nvSpPr>
        <p:spPr>
          <a:xfrm>
            <a:off x="868680" y="4645152"/>
            <a:ext cx="10424160" cy="1280160"/>
          </a:xfrm>
          <a:prstGeom prst="rect">
            <a:avLst/>
          </a:prstGeom>
          <a:noFill/>
          <a:ln/>
        </p:spPr>
        <p:txBody>
          <a:bodyPr wrap="square" rtlCol="0" anchor="ctr"/>
          <a:lstStyle/>
          <a:p>
            <a:pPr marL="0" indent="0">
              <a:spcAft>
                <a:spcPts val="1000"/>
              </a:spcAft>
              <a:buNone/>
            </a:pPr>
            <a:r>
              <a:rPr lang="en-US" sz="1400" b="1" dirty="0">
                <a:solidFill>
                  <a:srgbClr val="00F0FF"/>
                </a:solidFill>
                <a:latin typeface="Calibri" pitchFamily="34" charset="0"/>
                <a:ea typeface="Calibri" pitchFamily="34" charset="-122"/>
                <a:cs typeface="Calibri" pitchFamily="34" charset="-120"/>
              </a:rPr>
              <a:t>Timeframe: </a:t>
            </a:r>
            <a:r>
              <a:rPr lang="en-US" sz="1400" dirty="0">
                <a:solidFill>
                  <a:srgbClr val="FFFFFF"/>
                </a:solidFill>
                <a:latin typeface="Calibri" pitchFamily="34" charset="0"/>
                <a:ea typeface="Calibri" pitchFamily="34" charset="-122"/>
                <a:cs typeface="Calibri" pitchFamily="34" charset="-120"/>
              </a:rPr>
              <a:t>1980 – 2020 (40 years)
</a:t>
            </a:r>
            <a:r>
              <a:rPr lang="en-US" sz="1400" b="1" dirty="0">
                <a:solidFill>
                  <a:srgbClr val="00F0FF"/>
                </a:solidFill>
                <a:latin typeface="Calibri" pitchFamily="34" charset="0"/>
                <a:ea typeface="Calibri" pitchFamily="34" charset="-122"/>
                <a:cs typeface="Calibri" pitchFamily="34" charset="-120"/>
              </a:rPr>
              <a:t>Regions Covered: </a:t>
            </a:r>
            <a:r>
              <a:rPr lang="en-US" sz="1400" dirty="0">
                <a:solidFill>
                  <a:srgbClr val="FFFFFF"/>
                </a:solidFill>
                <a:latin typeface="Calibri" pitchFamily="34" charset="0"/>
                <a:ea typeface="Calibri" pitchFamily="34" charset="-122"/>
                <a:cs typeface="Calibri" pitchFamily="34" charset="-120"/>
              </a:rPr>
              <a:t>North America, Europe, Japan, Rest of World</a:t>
            </a:r>
            <a:endParaRPr lang="en-US" sz="1400" dirty="0"/>
          </a:p>
        </p:txBody>
      </p:sp>
      <p:sp>
        <p:nvSpPr>
          <p:cNvPr id="23" name="Text 21"/>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02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RESEARCH FRAMEWORK</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Key Strategic Business Questions</a:t>
            </a:r>
            <a:endParaRPr lang="en-US" sz="3000" dirty="0"/>
          </a:p>
        </p:txBody>
      </p:sp>
      <p:sp>
        <p:nvSpPr>
          <p:cNvPr id="6" name="Text 4"/>
          <p:cNvSpPr/>
          <p:nvPr/>
        </p:nvSpPr>
        <p:spPr>
          <a:xfrm>
            <a:off x="548640" y="1417320"/>
            <a:ext cx="11064240" cy="411480"/>
          </a:xfrm>
          <a:prstGeom prst="rect">
            <a:avLst/>
          </a:prstGeom>
          <a:noFill/>
          <a:ln/>
        </p:spPr>
        <p:txBody>
          <a:bodyPr wrap="square" rtlCol="0" anchor="ctr"/>
          <a:lstStyle/>
          <a:p>
            <a:pPr marL="0" indent="0">
              <a:buNone/>
            </a:pPr>
            <a:r>
              <a:rPr lang="en-US" sz="1300" i="1" dirty="0">
                <a:solidFill>
                  <a:srgbClr val="8B93A8"/>
                </a:solidFill>
                <a:latin typeface="Calibri" pitchFamily="34" charset="0"/>
                <a:ea typeface="Calibri" pitchFamily="34" charset="-122"/>
                <a:cs typeface="Calibri" pitchFamily="34" charset="-120"/>
              </a:rPr>
              <a:t>Our initial brainstorming workshop yielded 12 operational questions, synthesized into 4 core strategic pillars:</a:t>
            </a:r>
            <a:endParaRPr lang="en-US" sz="1300" dirty="0"/>
          </a:p>
        </p:txBody>
      </p:sp>
      <p:sp>
        <p:nvSpPr>
          <p:cNvPr id="7" name="Shape 5"/>
          <p:cNvSpPr/>
          <p:nvPr/>
        </p:nvSpPr>
        <p:spPr>
          <a:xfrm>
            <a:off x="548640" y="2011680"/>
            <a:ext cx="5440680" cy="1965960"/>
          </a:xfrm>
          <a:prstGeom prst="roundRect">
            <a:avLst>
              <a:gd name="adj" fmla="val 3721"/>
            </a:avLst>
          </a:prstGeom>
          <a:solidFill>
            <a:srgbClr val="13151F"/>
          </a:solidFill>
          <a:ln w="12700">
            <a:solidFill>
              <a:srgbClr val="00F0FF"/>
            </a:solidFill>
            <a:prstDash val="solid"/>
          </a:ln>
        </p:spPr>
        <p:txBody>
          <a:bodyPr/>
          <a:lstStyle/>
          <a:p>
            <a:endParaRPr lang="en-US"/>
          </a:p>
        </p:txBody>
      </p:sp>
      <p:sp>
        <p:nvSpPr>
          <p:cNvPr id="8" name="Text 6"/>
          <p:cNvSpPr/>
          <p:nvPr/>
        </p:nvSpPr>
        <p:spPr>
          <a:xfrm>
            <a:off x="777240" y="2148840"/>
            <a:ext cx="1097280" cy="640080"/>
          </a:xfrm>
          <a:prstGeom prst="rect">
            <a:avLst/>
          </a:prstGeom>
          <a:noFill/>
          <a:ln/>
        </p:spPr>
        <p:txBody>
          <a:bodyPr wrap="square" rtlCol="0" anchor="ctr"/>
          <a:lstStyle/>
          <a:p>
            <a:pPr marL="0" indent="0">
              <a:buNone/>
            </a:pPr>
            <a:r>
              <a:rPr lang="en-US" sz="3000" b="1" dirty="0">
                <a:solidFill>
                  <a:srgbClr val="FF007F"/>
                </a:solidFill>
                <a:latin typeface="Arial" pitchFamily="34" charset="0"/>
                <a:ea typeface="Arial" pitchFamily="34" charset="-122"/>
                <a:cs typeface="Arial" pitchFamily="34" charset="-120"/>
              </a:rPr>
              <a:t>01</a:t>
            </a:r>
            <a:endParaRPr lang="en-US" sz="3000" dirty="0"/>
          </a:p>
        </p:txBody>
      </p:sp>
      <p:sp>
        <p:nvSpPr>
          <p:cNvPr id="9" name="Text 7"/>
          <p:cNvSpPr/>
          <p:nvPr/>
        </p:nvSpPr>
        <p:spPr>
          <a:xfrm>
            <a:off x="1737360" y="2176272"/>
            <a:ext cx="4023360" cy="5943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Regional Revenue Dynamics &amp; Cultural Preferences</a:t>
            </a:r>
            <a:endParaRPr lang="en-US" sz="1300" dirty="0"/>
          </a:p>
        </p:txBody>
      </p:sp>
      <p:sp>
        <p:nvSpPr>
          <p:cNvPr id="10" name="Text 8"/>
          <p:cNvSpPr/>
          <p:nvPr/>
        </p:nvSpPr>
        <p:spPr>
          <a:xfrm>
            <a:off x="777240" y="2926080"/>
            <a:ext cx="4983480" cy="914400"/>
          </a:xfrm>
          <a:prstGeom prst="rect">
            <a:avLst/>
          </a:prstGeom>
          <a:noFill/>
          <a:ln/>
        </p:spPr>
        <p:txBody>
          <a:bodyPr wrap="square" rtlCol="0" anchor="ctr"/>
          <a:lstStyle/>
          <a:p>
            <a:pPr marL="0" indent="0">
              <a:buNone/>
            </a:pPr>
            <a:r>
              <a:rPr lang="en-US" sz="1150" dirty="0">
                <a:solidFill>
                  <a:srgbClr val="8B93A8"/>
                </a:solidFill>
                <a:latin typeface="Calibri" pitchFamily="34" charset="0"/>
                <a:ea typeface="Calibri" pitchFamily="34" charset="-122"/>
                <a:cs typeface="Calibri" pitchFamily="34" charset="-120"/>
              </a:rPr>
              <a:t>Where is the money? Do NA, EU, and JP consumers share the same gaming taste?</a:t>
            </a:r>
            <a:endParaRPr lang="en-US" sz="1150" dirty="0"/>
          </a:p>
        </p:txBody>
      </p:sp>
      <p:sp>
        <p:nvSpPr>
          <p:cNvPr id="11" name="Shape 9"/>
          <p:cNvSpPr/>
          <p:nvPr/>
        </p:nvSpPr>
        <p:spPr>
          <a:xfrm>
            <a:off x="6199632" y="2011680"/>
            <a:ext cx="5440680" cy="1965960"/>
          </a:xfrm>
          <a:prstGeom prst="roundRect">
            <a:avLst>
              <a:gd name="adj" fmla="val 3721"/>
            </a:avLst>
          </a:prstGeom>
          <a:solidFill>
            <a:srgbClr val="171A26"/>
          </a:solidFill>
          <a:ln w="12700">
            <a:solidFill>
              <a:srgbClr val="00F0FF"/>
            </a:solidFill>
            <a:prstDash val="solid"/>
          </a:ln>
        </p:spPr>
        <p:txBody>
          <a:bodyPr/>
          <a:lstStyle/>
          <a:p>
            <a:endParaRPr lang="en-US"/>
          </a:p>
        </p:txBody>
      </p:sp>
      <p:sp>
        <p:nvSpPr>
          <p:cNvPr id="12" name="Text 10"/>
          <p:cNvSpPr/>
          <p:nvPr/>
        </p:nvSpPr>
        <p:spPr>
          <a:xfrm>
            <a:off x="6428232" y="2148840"/>
            <a:ext cx="1097280" cy="640080"/>
          </a:xfrm>
          <a:prstGeom prst="rect">
            <a:avLst/>
          </a:prstGeom>
          <a:noFill/>
          <a:ln/>
        </p:spPr>
        <p:txBody>
          <a:bodyPr wrap="square" rtlCol="0" anchor="ctr"/>
          <a:lstStyle/>
          <a:p>
            <a:pPr marL="0" indent="0">
              <a:buNone/>
            </a:pPr>
            <a:r>
              <a:rPr lang="en-US" sz="3000" b="1" dirty="0">
                <a:solidFill>
                  <a:srgbClr val="FF007F"/>
                </a:solidFill>
                <a:latin typeface="Arial" pitchFamily="34" charset="0"/>
                <a:ea typeface="Arial" pitchFamily="34" charset="-122"/>
                <a:cs typeface="Arial" pitchFamily="34" charset="-120"/>
              </a:rPr>
              <a:t>02</a:t>
            </a:r>
            <a:endParaRPr lang="en-US" sz="3000" dirty="0"/>
          </a:p>
        </p:txBody>
      </p:sp>
      <p:sp>
        <p:nvSpPr>
          <p:cNvPr id="13" name="Text 11"/>
          <p:cNvSpPr/>
          <p:nvPr/>
        </p:nvSpPr>
        <p:spPr>
          <a:xfrm>
            <a:off x="7388352" y="2176272"/>
            <a:ext cx="4023360" cy="5943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Portfolio Safety &amp; Historical Viability</a:t>
            </a:r>
            <a:endParaRPr lang="en-US" sz="1300" dirty="0"/>
          </a:p>
        </p:txBody>
      </p:sp>
      <p:sp>
        <p:nvSpPr>
          <p:cNvPr id="14" name="Text 12"/>
          <p:cNvSpPr/>
          <p:nvPr/>
        </p:nvSpPr>
        <p:spPr>
          <a:xfrm>
            <a:off x="6428232" y="2926080"/>
            <a:ext cx="4983480" cy="914400"/>
          </a:xfrm>
          <a:prstGeom prst="rect">
            <a:avLst/>
          </a:prstGeom>
          <a:noFill/>
          <a:ln/>
        </p:spPr>
        <p:txBody>
          <a:bodyPr wrap="square" rtlCol="0" anchor="ctr"/>
          <a:lstStyle/>
          <a:p>
            <a:pPr marL="0" indent="0">
              <a:buNone/>
            </a:pPr>
            <a:r>
              <a:rPr lang="en-US" sz="1150" dirty="0">
                <a:solidFill>
                  <a:srgbClr val="8B93A8"/>
                </a:solidFill>
                <a:latin typeface="Calibri" pitchFamily="34" charset="0"/>
                <a:ea typeface="Calibri" pitchFamily="34" charset="-122"/>
                <a:cs typeface="Calibri" pitchFamily="34" charset="-120"/>
              </a:rPr>
              <a:t>Which genres are the safest investments? What is the probability of a title hitting 1M sales?</a:t>
            </a:r>
            <a:endParaRPr lang="en-US" sz="1150" dirty="0"/>
          </a:p>
        </p:txBody>
      </p:sp>
      <p:sp>
        <p:nvSpPr>
          <p:cNvPr id="15" name="Shape 13"/>
          <p:cNvSpPr/>
          <p:nvPr/>
        </p:nvSpPr>
        <p:spPr>
          <a:xfrm>
            <a:off x="548640" y="4206240"/>
            <a:ext cx="5440680" cy="1965960"/>
          </a:xfrm>
          <a:prstGeom prst="roundRect">
            <a:avLst>
              <a:gd name="adj" fmla="val 3721"/>
            </a:avLst>
          </a:prstGeom>
          <a:solidFill>
            <a:srgbClr val="13151F"/>
          </a:solidFill>
          <a:ln w="12700">
            <a:solidFill>
              <a:srgbClr val="00F0FF"/>
            </a:solidFill>
            <a:prstDash val="solid"/>
          </a:ln>
        </p:spPr>
        <p:txBody>
          <a:bodyPr/>
          <a:lstStyle/>
          <a:p>
            <a:endParaRPr lang="en-US"/>
          </a:p>
        </p:txBody>
      </p:sp>
      <p:sp>
        <p:nvSpPr>
          <p:cNvPr id="16" name="Text 14"/>
          <p:cNvSpPr/>
          <p:nvPr/>
        </p:nvSpPr>
        <p:spPr>
          <a:xfrm>
            <a:off x="777240" y="4343400"/>
            <a:ext cx="1097280" cy="640080"/>
          </a:xfrm>
          <a:prstGeom prst="rect">
            <a:avLst/>
          </a:prstGeom>
          <a:noFill/>
          <a:ln/>
        </p:spPr>
        <p:txBody>
          <a:bodyPr wrap="square" rtlCol="0" anchor="ctr"/>
          <a:lstStyle/>
          <a:p>
            <a:pPr marL="0" indent="0">
              <a:buNone/>
            </a:pPr>
            <a:r>
              <a:rPr lang="en-US" sz="3000" b="1" dirty="0">
                <a:solidFill>
                  <a:srgbClr val="FF007F"/>
                </a:solidFill>
                <a:latin typeface="Arial" pitchFamily="34" charset="0"/>
                <a:ea typeface="Arial" pitchFamily="34" charset="-122"/>
                <a:cs typeface="Arial" pitchFamily="34" charset="-120"/>
              </a:rPr>
              <a:t>03</a:t>
            </a:r>
            <a:endParaRPr lang="en-US" sz="3000" dirty="0"/>
          </a:p>
        </p:txBody>
      </p:sp>
      <p:sp>
        <p:nvSpPr>
          <p:cNvPr id="17" name="Text 15"/>
          <p:cNvSpPr/>
          <p:nvPr/>
        </p:nvSpPr>
        <p:spPr>
          <a:xfrm>
            <a:off x="1737360" y="4370832"/>
            <a:ext cx="4023360" cy="5943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Hardware Longevity &amp; Platforms</a:t>
            </a:r>
            <a:endParaRPr lang="en-US" sz="1300" dirty="0"/>
          </a:p>
        </p:txBody>
      </p:sp>
      <p:sp>
        <p:nvSpPr>
          <p:cNvPr id="18" name="Text 16"/>
          <p:cNvSpPr/>
          <p:nvPr/>
        </p:nvSpPr>
        <p:spPr>
          <a:xfrm>
            <a:off x="777240" y="5120640"/>
            <a:ext cx="4983480" cy="914400"/>
          </a:xfrm>
          <a:prstGeom prst="rect">
            <a:avLst/>
          </a:prstGeom>
          <a:noFill/>
          <a:ln/>
        </p:spPr>
        <p:txBody>
          <a:bodyPr wrap="square" rtlCol="0" anchor="ctr"/>
          <a:lstStyle/>
          <a:p>
            <a:pPr marL="0" indent="0">
              <a:buNone/>
            </a:pPr>
            <a:r>
              <a:rPr lang="en-US" sz="1150" dirty="0">
                <a:solidFill>
                  <a:srgbClr val="8B93A8"/>
                </a:solidFill>
                <a:latin typeface="Calibri" pitchFamily="34" charset="0"/>
                <a:ea typeface="Calibri" pitchFamily="34" charset="-122"/>
                <a:cs typeface="Calibri" pitchFamily="34" charset="-120"/>
              </a:rPr>
              <a:t>Which console generated unmatched revenue, and what is their average lifespan?</a:t>
            </a:r>
            <a:endParaRPr lang="en-US" sz="1150" dirty="0"/>
          </a:p>
        </p:txBody>
      </p:sp>
      <p:sp>
        <p:nvSpPr>
          <p:cNvPr id="19" name="Shape 17"/>
          <p:cNvSpPr/>
          <p:nvPr/>
        </p:nvSpPr>
        <p:spPr>
          <a:xfrm>
            <a:off x="6199632" y="4206240"/>
            <a:ext cx="5440680" cy="1965960"/>
          </a:xfrm>
          <a:prstGeom prst="roundRect">
            <a:avLst>
              <a:gd name="adj" fmla="val 3721"/>
            </a:avLst>
          </a:prstGeom>
          <a:solidFill>
            <a:srgbClr val="171A26"/>
          </a:solidFill>
          <a:ln w="12700">
            <a:solidFill>
              <a:srgbClr val="00F0FF"/>
            </a:solidFill>
            <a:prstDash val="solid"/>
          </a:ln>
        </p:spPr>
        <p:txBody>
          <a:bodyPr/>
          <a:lstStyle/>
          <a:p>
            <a:endParaRPr lang="en-US"/>
          </a:p>
        </p:txBody>
      </p:sp>
      <p:sp>
        <p:nvSpPr>
          <p:cNvPr id="20" name="Text 18"/>
          <p:cNvSpPr/>
          <p:nvPr/>
        </p:nvSpPr>
        <p:spPr>
          <a:xfrm>
            <a:off x="6428232" y="4343400"/>
            <a:ext cx="1097280" cy="640080"/>
          </a:xfrm>
          <a:prstGeom prst="rect">
            <a:avLst/>
          </a:prstGeom>
          <a:noFill/>
          <a:ln/>
        </p:spPr>
        <p:txBody>
          <a:bodyPr wrap="square" rtlCol="0" anchor="ctr"/>
          <a:lstStyle/>
          <a:p>
            <a:pPr marL="0" indent="0">
              <a:buNone/>
            </a:pPr>
            <a:r>
              <a:rPr lang="en-US" sz="3000" b="1" dirty="0">
                <a:solidFill>
                  <a:srgbClr val="FF007F"/>
                </a:solidFill>
                <a:latin typeface="Arial" pitchFamily="34" charset="0"/>
                <a:ea typeface="Arial" pitchFamily="34" charset="-122"/>
                <a:cs typeface="Arial" pitchFamily="34" charset="-120"/>
              </a:rPr>
              <a:t>04</a:t>
            </a:r>
            <a:endParaRPr lang="en-US" sz="3000" dirty="0"/>
          </a:p>
        </p:txBody>
      </p:sp>
      <p:sp>
        <p:nvSpPr>
          <p:cNvPr id="21" name="Text 19"/>
          <p:cNvSpPr/>
          <p:nvPr/>
        </p:nvSpPr>
        <p:spPr>
          <a:xfrm>
            <a:off x="7388352" y="4370832"/>
            <a:ext cx="4023360" cy="5943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Publisher Market Share &amp; Hit Density</a:t>
            </a:r>
            <a:endParaRPr lang="en-US" sz="1300" dirty="0"/>
          </a:p>
        </p:txBody>
      </p:sp>
      <p:sp>
        <p:nvSpPr>
          <p:cNvPr id="22" name="Text 20"/>
          <p:cNvSpPr/>
          <p:nvPr/>
        </p:nvSpPr>
        <p:spPr>
          <a:xfrm>
            <a:off x="6428232" y="5120640"/>
            <a:ext cx="4983480" cy="914400"/>
          </a:xfrm>
          <a:prstGeom prst="rect">
            <a:avLst/>
          </a:prstGeom>
          <a:noFill/>
          <a:ln/>
        </p:spPr>
        <p:txBody>
          <a:bodyPr wrap="square" rtlCol="0" anchor="ctr"/>
          <a:lstStyle/>
          <a:p>
            <a:pPr marL="0" indent="0">
              <a:buNone/>
            </a:pPr>
            <a:r>
              <a:rPr lang="en-US" sz="1150" dirty="0">
                <a:solidFill>
                  <a:srgbClr val="8B93A8"/>
                </a:solidFill>
                <a:latin typeface="Calibri" pitchFamily="34" charset="0"/>
                <a:ea typeface="Calibri" pitchFamily="34" charset="-122"/>
                <a:cs typeface="Calibri" pitchFamily="34" charset="-120"/>
              </a:rPr>
              <a:t>Who is the ultimate industry giant in revenue and high-performing title delivery?</a:t>
            </a:r>
            <a:endParaRPr lang="en-US" sz="1150" dirty="0"/>
          </a:p>
        </p:txBody>
      </p:sp>
      <p:sp>
        <p:nvSpPr>
          <p:cNvPr id="23" name="Text 21"/>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03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METHODOLOGY</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Our End-to-End Data Pipeline</a:t>
            </a:r>
            <a:endParaRPr lang="en-US" sz="3000" dirty="0"/>
          </a:p>
        </p:txBody>
      </p:sp>
      <p:sp>
        <p:nvSpPr>
          <p:cNvPr id="6" name="Shape 4"/>
          <p:cNvSpPr/>
          <p:nvPr/>
        </p:nvSpPr>
        <p:spPr>
          <a:xfrm>
            <a:off x="585216" y="1828800"/>
            <a:ext cx="2514600" cy="640080"/>
          </a:xfrm>
          <a:prstGeom prst="roundRect">
            <a:avLst>
              <a:gd name="adj" fmla="val 50000"/>
            </a:avLst>
          </a:prstGeom>
          <a:solidFill>
            <a:srgbClr val="13151F"/>
          </a:solidFill>
          <a:ln w="15875">
            <a:solidFill>
              <a:srgbClr val="00F0FF"/>
            </a:solidFill>
            <a:prstDash val="solid"/>
          </a:ln>
        </p:spPr>
        <p:txBody>
          <a:bodyPr/>
          <a:lstStyle/>
          <a:p>
            <a:endParaRPr lang="en-US"/>
          </a:p>
        </p:txBody>
      </p:sp>
      <p:sp>
        <p:nvSpPr>
          <p:cNvPr id="7" name="Text 5"/>
          <p:cNvSpPr/>
          <p:nvPr/>
        </p:nvSpPr>
        <p:spPr>
          <a:xfrm>
            <a:off x="585216" y="1828800"/>
            <a:ext cx="2514600" cy="64008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PYTHON</a:t>
            </a:r>
            <a:endParaRPr lang="en-US" sz="1500" dirty="0"/>
          </a:p>
        </p:txBody>
      </p:sp>
      <p:sp>
        <p:nvSpPr>
          <p:cNvPr id="8" name="Text 6"/>
          <p:cNvSpPr/>
          <p:nvPr/>
        </p:nvSpPr>
        <p:spPr>
          <a:xfrm>
            <a:off x="3099816" y="1828800"/>
            <a:ext cx="320040" cy="640080"/>
          </a:xfrm>
          <a:prstGeom prst="rect">
            <a:avLst/>
          </a:prstGeom>
          <a:noFill/>
          <a:ln/>
        </p:spPr>
        <p:txBody>
          <a:bodyPr wrap="square" rtlCol="0" anchor="ctr"/>
          <a:lstStyle/>
          <a:p>
            <a:pPr marL="0" indent="0" algn="ctr">
              <a:buNone/>
            </a:pPr>
            <a:r>
              <a:rPr lang="en-US" sz="2000" b="1" dirty="0">
                <a:solidFill>
                  <a:srgbClr val="FF007F"/>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19856" y="1828800"/>
            <a:ext cx="2514600" cy="640080"/>
          </a:xfrm>
          <a:prstGeom prst="roundRect">
            <a:avLst>
              <a:gd name="adj" fmla="val 50000"/>
            </a:avLst>
          </a:prstGeom>
          <a:solidFill>
            <a:srgbClr val="13151F"/>
          </a:solidFill>
          <a:ln w="15875">
            <a:solidFill>
              <a:srgbClr val="00F0FF"/>
            </a:solidFill>
            <a:prstDash val="solid"/>
          </a:ln>
        </p:spPr>
        <p:txBody>
          <a:bodyPr/>
          <a:lstStyle/>
          <a:p>
            <a:endParaRPr lang="en-US"/>
          </a:p>
        </p:txBody>
      </p:sp>
      <p:sp>
        <p:nvSpPr>
          <p:cNvPr id="10" name="Text 8"/>
          <p:cNvSpPr/>
          <p:nvPr/>
        </p:nvSpPr>
        <p:spPr>
          <a:xfrm>
            <a:off x="3419856" y="1828800"/>
            <a:ext cx="2514600" cy="64008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SQL SERVER</a:t>
            </a:r>
            <a:endParaRPr lang="en-US" sz="1500" dirty="0"/>
          </a:p>
        </p:txBody>
      </p:sp>
      <p:sp>
        <p:nvSpPr>
          <p:cNvPr id="11" name="Text 9"/>
          <p:cNvSpPr/>
          <p:nvPr/>
        </p:nvSpPr>
        <p:spPr>
          <a:xfrm>
            <a:off x="5934456" y="1828800"/>
            <a:ext cx="320040" cy="640080"/>
          </a:xfrm>
          <a:prstGeom prst="rect">
            <a:avLst/>
          </a:prstGeom>
          <a:noFill/>
          <a:ln/>
        </p:spPr>
        <p:txBody>
          <a:bodyPr wrap="square" rtlCol="0" anchor="ctr"/>
          <a:lstStyle/>
          <a:p>
            <a:pPr marL="0" indent="0" algn="ctr">
              <a:buNone/>
            </a:pPr>
            <a:r>
              <a:rPr lang="en-US" sz="2000" b="1" dirty="0">
                <a:solidFill>
                  <a:srgbClr val="FF007F"/>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6254496" y="1828800"/>
            <a:ext cx="2514600" cy="640080"/>
          </a:xfrm>
          <a:prstGeom prst="roundRect">
            <a:avLst>
              <a:gd name="adj" fmla="val 50000"/>
            </a:avLst>
          </a:prstGeom>
          <a:solidFill>
            <a:srgbClr val="13151F"/>
          </a:solidFill>
          <a:ln w="15875">
            <a:solidFill>
              <a:srgbClr val="00F0FF"/>
            </a:solidFill>
            <a:prstDash val="solid"/>
          </a:ln>
        </p:spPr>
        <p:txBody>
          <a:bodyPr/>
          <a:lstStyle/>
          <a:p>
            <a:endParaRPr lang="en-US"/>
          </a:p>
        </p:txBody>
      </p:sp>
      <p:sp>
        <p:nvSpPr>
          <p:cNvPr id="13" name="Text 11"/>
          <p:cNvSpPr/>
          <p:nvPr/>
        </p:nvSpPr>
        <p:spPr>
          <a:xfrm>
            <a:off x="6254496" y="1828800"/>
            <a:ext cx="2514600" cy="64008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POWER BI</a:t>
            </a:r>
            <a:endParaRPr lang="en-US" sz="1500" dirty="0"/>
          </a:p>
        </p:txBody>
      </p:sp>
      <p:sp>
        <p:nvSpPr>
          <p:cNvPr id="14" name="Text 12"/>
          <p:cNvSpPr/>
          <p:nvPr/>
        </p:nvSpPr>
        <p:spPr>
          <a:xfrm>
            <a:off x="8769096" y="1828800"/>
            <a:ext cx="320040" cy="640080"/>
          </a:xfrm>
          <a:prstGeom prst="rect">
            <a:avLst/>
          </a:prstGeom>
          <a:noFill/>
          <a:ln/>
        </p:spPr>
        <p:txBody>
          <a:bodyPr wrap="square" rtlCol="0" anchor="ctr"/>
          <a:lstStyle/>
          <a:p>
            <a:pPr marL="0" indent="0" algn="ctr">
              <a:buNone/>
            </a:pPr>
            <a:r>
              <a:rPr lang="en-US" sz="2000" b="1" dirty="0">
                <a:solidFill>
                  <a:srgbClr val="FF007F"/>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9089136" y="1828800"/>
            <a:ext cx="2514600" cy="640080"/>
          </a:xfrm>
          <a:prstGeom prst="roundRect">
            <a:avLst>
              <a:gd name="adj" fmla="val 50000"/>
            </a:avLst>
          </a:prstGeom>
          <a:solidFill>
            <a:srgbClr val="13151F"/>
          </a:solidFill>
          <a:ln w="15875">
            <a:solidFill>
              <a:srgbClr val="00F0FF"/>
            </a:solidFill>
            <a:prstDash val="solid"/>
          </a:ln>
        </p:spPr>
        <p:txBody>
          <a:bodyPr/>
          <a:lstStyle/>
          <a:p>
            <a:endParaRPr lang="en-US"/>
          </a:p>
        </p:txBody>
      </p:sp>
      <p:sp>
        <p:nvSpPr>
          <p:cNvPr id="16" name="Text 14"/>
          <p:cNvSpPr/>
          <p:nvPr/>
        </p:nvSpPr>
        <p:spPr>
          <a:xfrm>
            <a:off x="9089136" y="1828800"/>
            <a:ext cx="2514600" cy="640080"/>
          </a:xfrm>
          <a:prstGeom prst="rect">
            <a:avLst/>
          </a:prstGeom>
          <a:noFill/>
          <a:ln/>
        </p:spPr>
        <p:txBody>
          <a:bodyPr wrap="square" rtlCol="0" anchor="ctr"/>
          <a:lstStyle/>
          <a:p>
            <a:pPr algn="ctr"/>
            <a:r>
              <a:rPr lang="en-US" sz="1500" b="1" dirty="0">
                <a:solidFill>
                  <a:srgbClr val="FFFFFF"/>
                </a:solidFill>
                <a:latin typeface="Arial" pitchFamily="34" charset="0"/>
                <a:ea typeface="Arial" pitchFamily="34" charset="-122"/>
                <a:cs typeface="Arial" pitchFamily="34" charset="-120"/>
              </a:rPr>
              <a:t>Dashboard UI/UX</a:t>
            </a:r>
            <a:endParaRPr lang="en-US" sz="1500" dirty="0"/>
          </a:p>
        </p:txBody>
      </p:sp>
      <p:sp>
        <p:nvSpPr>
          <p:cNvPr id="17" name="Shape 15"/>
          <p:cNvSpPr/>
          <p:nvPr/>
        </p:nvSpPr>
        <p:spPr>
          <a:xfrm>
            <a:off x="548640" y="2880360"/>
            <a:ext cx="11091672" cy="777240"/>
          </a:xfrm>
          <a:prstGeom prst="roundRect">
            <a:avLst>
              <a:gd name="adj" fmla="val 9412"/>
            </a:avLst>
          </a:prstGeom>
          <a:solidFill>
            <a:srgbClr val="0D0F17"/>
          </a:solidFill>
          <a:ln w="12700">
            <a:solidFill>
              <a:srgbClr val="1D2130"/>
            </a:solidFill>
            <a:prstDash val="solid"/>
          </a:ln>
        </p:spPr>
        <p:txBody>
          <a:bodyPr/>
          <a:lstStyle/>
          <a:p>
            <a:endParaRPr lang="en-US"/>
          </a:p>
        </p:txBody>
      </p:sp>
      <p:sp>
        <p:nvSpPr>
          <p:cNvPr id="18" name="Text 16"/>
          <p:cNvSpPr/>
          <p:nvPr/>
        </p:nvSpPr>
        <p:spPr>
          <a:xfrm>
            <a:off x="822960" y="2880360"/>
            <a:ext cx="1371600" cy="777240"/>
          </a:xfrm>
          <a:prstGeom prst="rect">
            <a:avLst/>
          </a:prstGeom>
          <a:noFill/>
          <a:ln/>
        </p:spPr>
        <p:txBody>
          <a:bodyPr wrap="square" rtlCol="0" anchor="ctr"/>
          <a:lstStyle/>
          <a:p>
            <a:pPr marL="0" indent="0">
              <a:buNone/>
            </a:pPr>
            <a:r>
              <a:rPr lang="en-US" sz="1400" b="1" dirty="0">
                <a:solidFill>
                  <a:srgbClr val="FF007F"/>
                </a:solidFill>
                <a:latin typeface="Arial" pitchFamily="34" charset="0"/>
                <a:ea typeface="Arial" pitchFamily="34" charset="-122"/>
                <a:cs typeface="Arial" pitchFamily="34" charset="-120"/>
              </a:rPr>
              <a:t>PHASE 1</a:t>
            </a:r>
            <a:endParaRPr lang="en-US" sz="1400" dirty="0"/>
          </a:p>
        </p:txBody>
      </p:sp>
      <p:sp>
        <p:nvSpPr>
          <p:cNvPr id="19" name="Text 17"/>
          <p:cNvSpPr/>
          <p:nvPr/>
        </p:nvSpPr>
        <p:spPr>
          <a:xfrm>
            <a:off x="2286000" y="2880360"/>
            <a:ext cx="6309360" cy="7772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Preprocessing &amp; Feature Engineering</a:t>
            </a:r>
            <a:endParaRPr lang="en-US" sz="1400" dirty="0"/>
          </a:p>
        </p:txBody>
      </p:sp>
      <p:sp>
        <p:nvSpPr>
          <p:cNvPr id="20" name="Text 18"/>
          <p:cNvSpPr/>
          <p:nvPr/>
        </p:nvSpPr>
        <p:spPr>
          <a:xfrm>
            <a:off x="8686800" y="2880360"/>
            <a:ext cx="2743200" cy="777240"/>
          </a:xfrm>
          <a:prstGeom prst="rect">
            <a:avLst/>
          </a:prstGeom>
          <a:noFill/>
          <a:ln/>
        </p:spPr>
        <p:txBody>
          <a:bodyPr wrap="square" rtlCol="0" anchor="ctr"/>
          <a:lstStyle/>
          <a:p>
            <a:pPr marL="0" indent="0" algn="r">
              <a:buNone/>
            </a:pPr>
            <a:r>
              <a:rPr lang="en-US" sz="1250" b="1" dirty="0">
                <a:solidFill>
                  <a:srgbClr val="00F0FF"/>
                </a:solidFill>
                <a:latin typeface="Calibri" pitchFamily="34" charset="0"/>
                <a:ea typeface="Calibri" pitchFamily="34" charset="-122"/>
                <a:cs typeface="Calibri" pitchFamily="34" charset="-120"/>
              </a:rPr>
              <a:t>Amr Mohamed</a:t>
            </a:r>
            <a:endParaRPr lang="en-US" sz="1250" dirty="0"/>
          </a:p>
        </p:txBody>
      </p:sp>
      <p:sp>
        <p:nvSpPr>
          <p:cNvPr id="21" name="Shape 19"/>
          <p:cNvSpPr/>
          <p:nvPr/>
        </p:nvSpPr>
        <p:spPr>
          <a:xfrm>
            <a:off x="548640" y="3794760"/>
            <a:ext cx="11091672" cy="777240"/>
          </a:xfrm>
          <a:prstGeom prst="roundRect">
            <a:avLst>
              <a:gd name="adj" fmla="val 9412"/>
            </a:avLst>
          </a:prstGeom>
          <a:solidFill>
            <a:srgbClr val="0D0F17"/>
          </a:solidFill>
          <a:ln w="12700">
            <a:solidFill>
              <a:srgbClr val="1D2130"/>
            </a:solidFill>
            <a:prstDash val="solid"/>
          </a:ln>
        </p:spPr>
        <p:txBody>
          <a:bodyPr/>
          <a:lstStyle/>
          <a:p>
            <a:endParaRPr lang="en-US"/>
          </a:p>
        </p:txBody>
      </p:sp>
      <p:sp>
        <p:nvSpPr>
          <p:cNvPr id="22" name="Text 20"/>
          <p:cNvSpPr/>
          <p:nvPr/>
        </p:nvSpPr>
        <p:spPr>
          <a:xfrm>
            <a:off x="822960" y="3794760"/>
            <a:ext cx="1371600" cy="777240"/>
          </a:xfrm>
          <a:prstGeom prst="rect">
            <a:avLst/>
          </a:prstGeom>
          <a:noFill/>
          <a:ln/>
        </p:spPr>
        <p:txBody>
          <a:bodyPr wrap="square" rtlCol="0" anchor="ctr"/>
          <a:lstStyle/>
          <a:p>
            <a:pPr marL="0" indent="0">
              <a:buNone/>
            </a:pPr>
            <a:r>
              <a:rPr lang="en-US" sz="1400" b="1" dirty="0">
                <a:solidFill>
                  <a:srgbClr val="FF007F"/>
                </a:solidFill>
                <a:latin typeface="Arial" pitchFamily="34" charset="0"/>
                <a:ea typeface="Arial" pitchFamily="34" charset="-122"/>
                <a:cs typeface="Arial" pitchFamily="34" charset="-120"/>
              </a:rPr>
              <a:t>PHASE 2</a:t>
            </a:r>
            <a:endParaRPr lang="en-US" sz="1400" dirty="0"/>
          </a:p>
        </p:txBody>
      </p:sp>
      <p:sp>
        <p:nvSpPr>
          <p:cNvPr id="23" name="Text 21"/>
          <p:cNvSpPr/>
          <p:nvPr/>
        </p:nvSpPr>
        <p:spPr>
          <a:xfrm>
            <a:off x="2286000" y="3794760"/>
            <a:ext cx="6309360" cy="7772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Relational Data Warehousing &amp; ERD</a:t>
            </a:r>
            <a:endParaRPr lang="en-US" sz="1400" dirty="0"/>
          </a:p>
        </p:txBody>
      </p:sp>
      <p:sp>
        <p:nvSpPr>
          <p:cNvPr id="24" name="Text 22"/>
          <p:cNvSpPr/>
          <p:nvPr/>
        </p:nvSpPr>
        <p:spPr>
          <a:xfrm>
            <a:off x="8686800" y="3794760"/>
            <a:ext cx="2743200" cy="777240"/>
          </a:xfrm>
          <a:prstGeom prst="rect">
            <a:avLst/>
          </a:prstGeom>
          <a:noFill/>
          <a:ln/>
        </p:spPr>
        <p:txBody>
          <a:bodyPr wrap="square" rtlCol="0" anchor="ctr"/>
          <a:lstStyle/>
          <a:p>
            <a:pPr marL="0" indent="0" algn="r">
              <a:buNone/>
            </a:pPr>
            <a:r>
              <a:rPr lang="en-US" sz="1250" b="1" dirty="0">
                <a:solidFill>
                  <a:srgbClr val="00F0FF"/>
                </a:solidFill>
                <a:latin typeface="Calibri" pitchFamily="34" charset="0"/>
                <a:ea typeface="Calibri" pitchFamily="34" charset="-122"/>
                <a:cs typeface="Calibri" pitchFamily="34" charset="-120"/>
              </a:rPr>
              <a:t>Mohamed Hany</a:t>
            </a:r>
            <a:endParaRPr lang="en-US" sz="1250" dirty="0"/>
          </a:p>
        </p:txBody>
      </p:sp>
      <p:sp>
        <p:nvSpPr>
          <p:cNvPr id="25" name="Shape 23"/>
          <p:cNvSpPr/>
          <p:nvPr/>
        </p:nvSpPr>
        <p:spPr>
          <a:xfrm>
            <a:off x="548640" y="4709160"/>
            <a:ext cx="11091672" cy="777240"/>
          </a:xfrm>
          <a:prstGeom prst="roundRect">
            <a:avLst>
              <a:gd name="adj" fmla="val 9412"/>
            </a:avLst>
          </a:prstGeom>
          <a:solidFill>
            <a:srgbClr val="0D0F17"/>
          </a:solidFill>
          <a:ln w="12700">
            <a:solidFill>
              <a:srgbClr val="1D2130"/>
            </a:solidFill>
            <a:prstDash val="solid"/>
          </a:ln>
        </p:spPr>
        <p:txBody>
          <a:bodyPr/>
          <a:lstStyle/>
          <a:p>
            <a:endParaRPr lang="en-US"/>
          </a:p>
        </p:txBody>
      </p:sp>
      <p:sp>
        <p:nvSpPr>
          <p:cNvPr id="26" name="Text 24"/>
          <p:cNvSpPr/>
          <p:nvPr/>
        </p:nvSpPr>
        <p:spPr>
          <a:xfrm>
            <a:off x="822960" y="4709160"/>
            <a:ext cx="1371600" cy="777240"/>
          </a:xfrm>
          <a:prstGeom prst="rect">
            <a:avLst/>
          </a:prstGeom>
          <a:noFill/>
          <a:ln/>
        </p:spPr>
        <p:txBody>
          <a:bodyPr wrap="square" rtlCol="0" anchor="ctr"/>
          <a:lstStyle/>
          <a:p>
            <a:pPr marL="0" indent="0">
              <a:buNone/>
            </a:pPr>
            <a:r>
              <a:rPr lang="en-US" sz="1400" b="1" dirty="0">
                <a:solidFill>
                  <a:srgbClr val="FF007F"/>
                </a:solidFill>
                <a:latin typeface="Arial" pitchFamily="34" charset="0"/>
                <a:ea typeface="Arial" pitchFamily="34" charset="-122"/>
                <a:cs typeface="Arial" pitchFamily="34" charset="-120"/>
              </a:rPr>
              <a:t>PHASE 3</a:t>
            </a:r>
            <a:endParaRPr lang="en-US" sz="1400" dirty="0"/>
          </a:p>
        </p:txBody>
      </p:sp>
      <p:sp>
        <p:nvSpPr>
          <p:cNvPr id="27" name="Text 25"/>
          <p:cNvSpPr/>
          <p:nvPr/>
        </p:nvSpPr>
        <p:spPr>
          <a:xfrm>
            <a:off x="2286000" y="4709160"/>
            <a:ext cx="6309360" cy="7772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Analytical Star Schema &amp; DAX Engine</a:t>
            </a:r>
            <a:endParaRPr lang="en-US" sz="1400" dirty="0"/>
          </a:p>
        </p:txBody>
      </p:sp>
      <p:sp>
        <p:nvSpPr>
          <p:cNvPr id="28" name="Text 26"/>
          <p:cNvSpPr/>
          <p:nvPr/>
        </p:nvSpPr>
        <p:spPr>
          <a:xfrm>
            <a:off x="8686800" y="4709160"/>
            <a:ext cx="2743200" cy="777240"/>
          </a:xfrm>
          <a:prstGeom prst="rect">
            <a:avLst/>
          </a:prstGeom>
          <a:noFill/>
          <a:ln/>
        </p:spPr>
        <p:txBody>
          <a:bodyPr wrap="square" rtlCol="0" anchor="ctr"/>
          <a:lstStyle/>
          <a:p>
            <a:pPr marL="0" indent="0" algn="r">
              <a:buNone/>
            </a:pPr>
            <a:r>
              <a:rPr lang="en-US" sz="1250" b="1" dirty="0">
                <a:solidFill>
                  <a:srgbClr val="00F0FF"/>
                </a:solidFill>
                <a:latin typeface="Calibri" pitchFamily="34" charset="0"/>
                <a:ea typeface="Calibri" pitchFamily="34" charset="-122"/>
                <a:cs typeface="Calibri" pitchFamily="34" charset="-120"/>
              </a:rPr>
              <a:t>Ahmed Hussein</a:t>
            </a:r>
            <a:endParaRPr lang="en-US" sz="1250" dirty="0"/>
          </a:p>
        </p:txBody>
      </p:sp>
      <p:sp>
        <p:nvSpPr>
          <p:cNvPr id="29" name="Shape 27"/>
          <p:cNvSpPr/>
          <p:nvPr/>
        </p:nvSpPr>
        <p:spPr>
          <a:xfrm>
            <a:off x="548640" y="5623560"/>
            <a:ext cx="11091672" cy="777240"/>
          </a:xfrm>
          <a:prstGeom prst="roundRect">
            <a:avLst>
              <a:gd name="adj" fmla="val 9412"/>
            </a:avLst>
          </a:prstGeom>
          <a:solidFill>
            <a:srgbClr val="0D0F17"/>
          </a:solidFill>
          <a:ln w="12700">
            <a:solidFill>
              <a:srgbClr val="1D2130"/>
            </a:solidFill>
            <a:prstDash val="solid"/>
          </a:ln>
        </p:spPr>
        <p:txBody>
          <a:bodyPr/>
          <a:lstStyle/>
          <a:p>
            <a:endParaRPr lang="en-US"/>
          </a:p>
        </p:txBody>
      </p:sp>
      <p:sp>
        <p:nvSpPr>
          <p:cNvPr id="30" name="Text 28"/>
          <p:cNvSpPr/>
          <p:nvPr/>
        </p:nvSpPr>
        <p:spPr>
          <a:xfrm>
            <a:off x="822960" y="5623560"/>
            <a:ext cx="1371600" cy="777240"/>
          </a:xfrm>
          <a:prstGeom prst="rect">
            <a:avLst/>
          </a:prstGeom>
          <a:noFill/>
          <a:ln/>
        </p:spPr>
        <p:txBody>
          <a:bodyPr wrap="square" rtlCol="0" anchor="ctr"/>
          <a:lstStyle/>
          <a:p>
            <a:pPr marL="0" indent="0">
              <a:buNone/>
            </a:pPr>
            <a:r>
              <a:rPr lang="en-US" sz="1400" b="1" dirty="0">
                <a:solidFill>
                  <a:srgbClr val="FF007F"/>
                </a:solidFill>
                <a:latin typeface="Arial" pitchFamily="34" charset="0"/>
                <a:ea typeface="Arial" pitchFamily="34" charset="-122"/>
                <a:cs typeface="Arial" pitchFamily="34" charset="-120"/>
              </a:rPr>
              <a:t>PHASE 4</a:t>
            </a:r>
            <a:endParaRPr lang="en-US" sz="1400" dirty="0"/>
          </a:p>
        </p:txBody>
      </p:sp>
      <p:sp>
        <p:nvSpPr>
          <p:cNvPr id="31" name="Text 29"/>
          <p:cNvSpPr/>
          <p:nvPr/>
        </p:nvSpPr>
        <p:spPr>
          <a:xfrm>
            <a:off x="2286000" y="5623560"/>
            <a:ext cx="6309360" cy="77724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UI/UX Architecture &amp; Data Story</a:t>
            </a:r>
            <a:endParaRPr lang="en-US" sz="1400" dirty="0"/>
          </a:p>
        </p:txBody>
      </p:sp>
      <p:sp>
        <p:nvSpPr>
          <p:cNvPr id="32" name="Text 30"/>
          <p:cNvSpPr/>
          <p:nvPr/>
        </p:nvSpPr>
        <p:spPr>
          <a:xfrm>
            <a:off x="8686800" y="5623560"/>
            <a:ext cx="2743200" cy="777240"/>
          </a:xfrm>
          <a:prstGeom prst="rect">
            <a:avLst/>
          </a:prstGeom>
          <a:noFill/>
          <a:ln/>
        </p:spPr>
        <p:txBody>
          <a:bodyPr wrap="square" rtlCol="0" anchor="ctr"/>
          <a:lstStyle/>
          <a:p>
            <a:pPr marL="0" indent="0" algn="r">
              <a:buNone/>
            </a:pPr>
            <a:r>
              <a:rPr lang="en-US" sz="1250" b="1" dirty="0">
                <a:solidFill>
                  <a:srgbClr val="00F0FF"/>
                </a:solidFill>
                <a:latin typeface="Calibri" pitchFamily="34" charset="0"/>
                <a:ea typeface="Calibri" pitchFamily="34" charset="-122"/>
                <a:cs typeface="Calibri" pitchFamily="34" charset="-120"/>
              </a:rPr>
              <a:t>Mohamed Magdy</a:t>
            </a:r>
            <a:endParaRPr lang="en-US" sz="1250" dirty="0"/>
          </a:p>
        </p:txBody>
      </p:sp>
      <p:sp>
        <p:nvSpPr>
          <p:cNvPr id="33" name="Text 31"/>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04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STEP 1 — AMR MOHAMED</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Data Preprocessing &amp; Feature Engineering</a:t>
            </a:r>
            <a:endParaRPr lang="en-US" sz="3000" dirty="0"/>
          </a:p>
        </p:txBody>
      </p:sp>
      <p:sp>
        <p:nvSpPr>
          <p:cNvPr id="6" name="Shape 4"/>
          <p:cNvSpPr/>
          <p:nvPr/>
        </p:nvSpPr>
        <p:spPr>
          <a:xfrm>
            <a:off x="548640" y="1600200"/>
            <a:ext cx="4937760" cy="4434840"/>
          </a:xfrm>
          <a:prstGeom prst="roundRect">
            <a:avLst>
              <a:gd name="adj" fmla="val 1649"/>
            </a:avLst>
          </a:prstGeom>
          <a:solidFill>
            <a:srgbClr val="0B0D14"/>
          </a:solidFill>
          <a:ln w="12700">
            <a:solidFill>
              <a:srgbClr val="00F0FF"/>
            </a:solidFill>
            <a:prstDash val="solid"/>
          </a:ln>
        </p:spPr>
        <p:txBody>
          <a:bodyPr/>
          <a:lstStyle/>
          <a:p>
            <a:endParaRPr lang="en-US"/>
          </a:p>
        </p:txBody>
      </p:sp>
      <p:sp>
        <p:nvSpPr>
          <p:cNvPr id="7" name="Text 5"/>
          <p:cNvSpPr/>
          <p:nvPr/>
        </p:nvSpPr>
        <p:spPr>
          <a:xfrm>
            <a:off x="822960" y="1737360"/>
            <a:ext cx="4389120" cy="274320"/>
          </a:xfrm>
          <a:prstGeom prst="rect">
            <a:avLst/>
          </a:prstGeom>
          <a:noFill/>
          <a:ln/>
        </p:spPr>
        <p:txBody>
          <a:bodyPr wrap="square" rtlCol="0" anchor="ctr"/>
          <a:lstStyle/>
          <a:p>
            <a:pPr marL="0" indent="0">
              <a:buNone/>
            </a:pPr>
            <a:r>
              <a:rPr lang="en-US" sz="1100" dirty="0">
                <a:solidFill>
                  <a:srgbClr val="8B93A8"/>
                </a:solidFill>
                <a:latin typeface="Courier New" pitchFamily="34" charset="0"/>
                <a:ea typeface="Courier New" pitchFamily="34" charset="-122"/>
                <a:cs typeface="Courier New" pitchFamily="34" charset="-120"/>
              </a:rPr>
              <a:t>preprocess.py</a:t>
            </a:r>
            <a:endParaRPr lang="en-US" sz="1100" dirty="0"/>
          </a:p>
        </p:txBody>
      </p:sp>
      <p:sp>
        <p:nvSpPr>
          <p:cNvPr id="8" name="Text 6"/>
          <p:cNvSpPr/>
          <p:nvPr/>
        </p:nvSpPr>
        <p:spPr>
          <a:xfrm>
            <a:off x="822960" y="2057400"/>
            <a:ext cx="4434840" cy="3840480"/>
          </a:xfrm>
          <a:prstGeom prst="rect">
            <a:avLst/>
          </a:prstGeom>
          <a:noFill/>
          <a:ln/>
        </p:spPr>
        <p:txBody>
          <a:bodyPr wrap="square" rtlCol="0" anchor="t"/>
          <a:lstStyle/>
          <a:p>
            <a:pPr>
              <a:lnSpc>
                <a:spcPts val="1425"/>
              </a:lnSpc>
              <a:buNone/>
            </a:pPr>
            <a:r>
              <a:rPr lang="en-US" sz="1200" b="0" dirty="0">
                <a:solidFill>
                  <a:srgbClr val="FF7B72"/>
                </a:solidFill>
                <a:effectLst/>
                <a:latin typeface="Consolas" panose="020B0609020204030204" pitchFamily="49" charset="0"/>
              </a:rPr>
              <a:t>def</a:t>
            </a:r>
            <a:r>
              <a:rPr lang="en-US" sz="1200" b="0" dirty="0">
                <a:solidFill>
                  <a:srgbClr val="BBBEBF"/>
                </a:solidFill>
                <a:effectLst/>
                <a:latin typeface="Consolas" panose="020B0609020204030204" pitchFamily="49" charset="0"/>
              </a:rPr>
              <a:t> </a:t>
            </a:r>
            <a:r>
              <a:rPr lang="en-US" sz="1200" b="0" dirty="0">
                <a:solidFill>
                  <a:srgbClr val="D2A8FF"/>
                </a:solidFill>
                <a:effectLst/>
                <a:latin typeface="Consolas" panose="020B0609020204030204" pitchFamily="49" charset="0"/>
              </a:rPr>
              <a:t>decade</a:t>
            </a:r>
            <a:r>
              <a:rPr lang="en-US" sz="1200" b="0" dirty="0">
                <a:solidFill>
                  <a:srgbClr val="BBBEBF"/>
                </a:solidFill>
                <a:effectLst/>
                <a:latin typeface="Consolas" panose="020B0609020204030204" pitchFamily="49" charset="0"/>
              </a:rPr>
              <a:t>(</a:t>
            </a:r>
            <a:r>
              <a:rPr lang="en-US" sz="1200" b="0" dirty="0">
                <a:solidFill>
                  <a:srgbClr val="FFA657"/>
                </a:solidFill>
                <a:effectLst/>
                <a:latin typeface="Consolas" panose="020B0609020204030204" pitchFamily="49" charset="0"/>
              </a:rPr>
              <a:t>year</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BBBEBF"/>
                </a:solidFill>
                <a:effectLst/>
                <a:latin typeface="Consolas" panose="020B0609020204030204" pitchFamily="49" charset="0"/>
              </a:rPr>
              <a:t> </a:t>
            </a:r>
            <a:r>
              <a:rPr lang="en-US" sz="1200" b="0" dirty="0">
                <a:solidFill>
                  <a:srgbClr val="FFA657"/>
                </a:solidFill>
                <a:effectLst/>
                <a:latin typeface="Consolas" panose="020B0609020204030204" pitchFamily="49" charset="0"/>
              </a:rPr>
              <a:t>year</a:t>
            </a:r>
            <a:r>
              <a:rPr lang="en-US" sz="1200" b="0" dirty="0">
                <a:solidFill>
                  <a:srgbClr val="BBBEBF"/>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BBBEBF"/>
                </a:solidFill>
                <a:effectLst/>
                <a:latin typeface="Consolas" panose="020B0609020204030204" pitchFamily="49" charset="0"/>
              </a:rPr>
              <a:t> </a:t>
            </a:r>
            <a:r>
              <a:rPr lang="en-US" sz="1200" b="0" dirty="0">
                <a:solidFill>
                  <a:srgbClr val="B5CEA8"/>
                </a:solidFill>
                <a:effectLst/>
                <a:latin typeface="Consolas" panose="020B0609020204030204" pitchFamily="49" charset="0"/>
              </a:rPr>
              <a:t>1990</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"1980s"</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r>
              <a:rPr lang="en-US" sz="1200" b="0" dirty="0" err="1">
                <a:solidFill>
                  <a:srgbClr val="C586C0"/>
                </a:solidFill>
                <a:effectLst/>
                <a:latin typeface="Consolas" panose="020B0609020204030204" pitchFamily="49" charset="0"/>
              </a:rPr>
              <a:t>elif</a:t>
            </a:r>
            <a:r>
              <a:rPr lang="en-US" sz="1200" b="0" dirty="0">
                <a:solidFill>
                  <a:srgbClr val="BBBEBF"/>
                </a:solidFill>
                <a:effectLst/>
                <a:latin typeface="Consolas" panose="020B0609020204030204" pitchFamily="49" charset="0"/>
              </a:rPr>
              <a:t> </a:t>
            </a:r>
            <a:r>
              <a:rPr lang="en-US" sz="1200" b="0" dirty="0">
                <a:solidFill>
                  <a:srgbClr val="FFA657"/>
                </a:solidFill>
                <a:effectLst/>
                <a:latin typeface="Consolas" panose="020B0609020204030204" pitchFamily="49" charset="0"/>
              </a:rPr>
              <a:t>year</a:t>
            </a:r>
            <a:r>
              <a:rPr lang="en-US" sz="1200" b="0" dirty="0">
                <a:solidFill>
                  <a:srgbClr val="BBBEBF"/>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BBBEBF"/>
                </a:solidFill>
                <a:effectLst/>
                <a:latin typeface="Consolas" panose="020B0609020204030204" pitchFamily="49" charset="0"/>
              </a:rPr>
              <a:t> </a:t>
            </a:r>
            <a:r>
              <a:rPr lang="en-US" sz="1200" b="0" dirty="0">
                <a:solidFill>
                  <a:srgbClr val="B5CEA8"/>
                </a:solidFill>
                <a:effectLst/>
                <a:latin typeface="Consolas" panose="020B0609020204030204" pitchFamily="49" charset="0"/>
              </a:rPr>
              <a:t>2000</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"1990s"</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r>
              <a:rPr lang="en-US" sz="1200" b="0" dirty="0" err="1">
                <a:solidFill>
                  <a:srgbClr val="C586C0"/>
                </a:solidFill>
                <a:effectLst/>
                <a:latin typeface="Consolas" panose="020B0609020204030204" pitchFamily="49" charset="0"/>
              </a:rPr>
              <a:t>elif</a:t>
            </a:r>
            <a:r>
              <a:rPr lang="en-US" sz="1200" b="0" dirty="0">
                <a:solidFill>
                  <a:srgbClr val="BBBEBF"/>
                </a:solidFill>
                <a:effectLst/>
                <a:latin typeface="Consolas" panose="020B0609020204030204" pitchFamily="49" charset="0"/>
              </a:rPr>
              <a:t> </a:t>
            </a:r>
            <a:r>
              <a:rPr lang="en-US" sz="1200" b="0" dirty="0">
                <a:solidFill>
                  <a:srgbClr val="FFA657"/>
                </a:solidFill>
                <a:effectLst/>
                <a:latin typeface="Consolas" panose="020B0609020204030204" pitchFamily="49" charset="0"/>
              </a:rPr>
              <a:t>year</a:t>
            </a:r>
            <a:r>
              <a:rPr lang="en-US" sz="1200" b="0" dirty="0">
                <a:solidFill>
                  <a:srgbClr val="BBBEBF"/>
                </a:solidFill>
                <a:effectLst/>
                <a:latin typeface="Consolas" panose="020B0609020204030204" pitchFamily="49" charset="0"/>
              </a:rPr>
              <a:t> </a:t>
            </a:r>
            <a:r>
              <a:rPr lang="en-US" sz="1200" b="0" dirty="0">
                <a:solidFill>
                  <a:srgbClr val="D4D4D4"/>
                </a:solidFill>
                <a:effectLst/>
                <a:latin typeface="Consolas" panose="020B0609020204030204" pitchFamily="49" charset="0"/>
              </a:rPr>
              <a:t>&lt;</a:t>
            </a:r>
            <a:r>
              <a:rPr lang="en-US" sz="1200" b="0" dirty="0">
                <a:solidFill>
                  <a:srgbClr val="BBBEBF"/>
                </a:solidFill>
                <a:effectLst/>
                <a:latin typeface="Consolas" panose="020B0609020204030204" pitchFamily="49" charset="0"/>
              </a:rPr>
              <a:t> </a:t>
            </a:r>
            <a:r>
              <a:rPr lang="en-US" sz="1200" b="0" dirty="0">
                <a:solidFill>
                  <a:srgbClr val="B5CEA8"/>
                </a:solidFill>
                <a:effectLst/>
                <a:latin typeface="Consolas" panose="020B0609020204030204" pitchFamily="49" charset="0"/>
              </a:rPr>
              <a:t>2010</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"2000s"</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else</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"2010s"</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p>
          <a:p>
            <a:pPr>
              <a:lnSpc>
                <a:spcPts val="1425"/>
              </a:lnSpc>
              <a:buNone/>
            </a:pPr>
            <a:r>
              <a:rPr lang="en-US" sz="1200" b="0" dirty="0" err="1">
                <a:solidFill>
                  <a:srgbClr val="C9D1D9"/>
                </a:solidFill>
                <a:effectLst/>
                <a:latin typeface="Consolas" panose="020B0609020204030204" pitchFamily="49" charset="0"/>
              </a:rPr>
              <a:t>df</a:t>
            </a:r>
            <a:r>
              <a:rPr lang="en-US" sz="1200" b="0" dirty="0">
                <a:solidFill>
                  <a:srgbClr val="BBBEBF"/>
                </a:solidFill>
                <a:effectLst/>
                <a:latin typeface="Consolas" panose="020B0609020204030204" pitchFamily="49" charset="0"/>
              </a:rPr>
              <a:t>[</a:t>
            </a:r>
            <a:r>
              <a:rPr lang="en-US" sz="1200" b="0" dirty="0">
                <a:solidFill>
                  <a:srgbClr val="A5D6FF"/>
                </a:solidFill>
                <a:effectLst/>
                <a:latin typeface="Consolas" panose="020B0609020204030204" pitchFamily="49" charset="0"/>
              </a:rPr>
              <a:t>"Decade"</a:t>
            </a:r>
            <a:r>
              <a:rPr lang="en-US" sz="1200" b="0" dirty="0">
                <a:solidFill>
                  <a:srgbClr val="BBBEBF"/>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BBBEBF"/>
                </a:solidFill>
                <a:effectLst/>
                <a:latin typeface="Consolas" panose="020B0609020204030204" pitchFamily="49" charset="0"/>
              </a:rPr>
              <a:t> </a:t>
            </a:r>
            <a:r>
              <a:rPr lang="en-US" sz="1200" b="0" dirty="0" err="1">
                <a:solidFill>
                  <a:srgbClr val="C9D1D9"/>
                </a:solidFill>
                <a:effectLst/>
                <a:latin typeface="Consolas" panose="020B0609020204030204" pitchFamily="49" charset="0"/>
              </a:rPr>
              <a:t>df</a:t>
            </a:r>
            <a:r>
              <a:rPr lang="en-US" sz="1200" b="0" dirty="0">
                <a:solidFill>
                  <a:srgbClr val="BBBEBF"/>
                </a:solidFill>
                <a:effectLst/>
                <a:latin typeface="Consolas" panose="020B0609020204030204" pitchFamily="49" charset="0"/>
              </a:rPr>
              <a:t>[</a:t>
            </a:r>
            <a:r>
              <a:rPr lang="en-US" sz="1200" b="0" dirty="0">
                <a:solidFill>
                  <a:srgbClr val="A5D6FF"/>
                </a:solidFill>
                <a:effectLst/>
                <a:latin typeface="Consolas" panose="020B0609020204030204" pitchFamily="49" charset="0"/>
              </a:rPr>
              <a:t>"Year"</a:t>
            </a:r>
            <a:r>
              <a:rPr lang="en-US" sz="1200" b="0" dirty="0">
                <a:solidFill>
                  <a:srgbClr val="BBBEBF"/>
                </a:solidFill>
                <a:effectLst/>
                <a:latin typeface="Consolas" panose="020B0609020204030204" pitchFamily="49" charset="0"/>
              </a:rPr>
              <a:t>].</a:t>
            </a:r>
            <a:r>
              <a:rPr lang="en-US" sz="1200" b="0" dirty="0">
                <a:solidFill>
                  <a:srgbClr val="D2A8FF"/>
                </a:solidFill>
                <a:effectLst/>
                <a:latin typeface="Consolas" panose="020B0609020204030204" pitchFamily="49" charset="0"/>
              </a:rPr>
              <a:t>apply</a:t>
            </a:r>
            <a:r>
              <a:rPr lang="en-US" sz="1200" b="0" dirty="0">
                <a:solidFill>
                  <a:srgbClr val="BBBEBF"/>
                </a:solidFill>
                <a:effectLst/>
                <a:latin typeface="Consolas" panose="020B0609020204030204" pitchFamily="49" charset="0"/>
              </a:rPr>
              <a:t>(</a:t>
            </a:r>
            <a:r>
              <a:rPr lang="en-US" sz="1200" b="0" dirty="0">
                <a:solidFill>
                  <a:srgbClr val="D2A8FF"/>
                </a:solidFill>
                <a:effectLst/>
                <a:latin typeface="Consolas" panose="020B0609020204030204" pitchFamily="49" charset="0"/>
              </a:rPr>
              <a:t>decade</a:t>
            </a:r>
            <a:r>
              <a:rPr lang="en-US" sz="1200" b="0" dirty="0">
                <a:solidFill>
                  <a:srgbClr val="BBBEBF"/>
                </a:solidFill>
                <a:effectLst/>
                <a:latin typeface="Consolas" panose="020B0609020204030204" pitchFamily="49" charset="0"/>
              </a:rPr>
              <a:t>)</a:t>
            </a:r>
            <a:endParaRPr lang="ar-EG" sz="1200" b="0" dirty="0">
              <a:solidFill>
                <a:srgbClr val="BBBEBF"/>
              </a:solidFill>
              <a:effectLst/>
              <a:latin typeface="Consolas" panose="020B0609020204030204" pitchFamily="49" charset="0"/>
            </a:endParaRPr>
          </a:p>
          <a:p>
            <a:pPr>
              <a:lnSpc>
                <a:spcPts val="1425"/>
              </a:lnSpc>
              <a:buNone/>
            </a:pPr>
            <a:endParaRPr lang="ar-EG" sz="1200" b="0" dirty="0">
              <a:solidFill>
                <a:srgbClr val="BBBEBF"/>
              </a:solidFill>
              <a:effectLst/>
              <a:latin typeface="Consolas" panose="020B0609020204030204" pitchFamily="49" charset="0"/>
            </a:endParaRPr>
          </a:p>
          <a:p>
            <a:pPr>
              <a:lnSpc>
                <a:spcPts val="1425"/>
              </a:lnSpc>
              <a:buNone/>
            </a:pPr>
            <a:r>
              <a:rPr lang="en-US" sz="1200" b="0" dirty="0">
                <a:solidFill>
                  <a:srgbClr val="FF7B72"/>
                </a:solidFill>
                <a:effectLst/>
                <a:latin typeface="Consolas" panose="020B0609020204030204" pitchFamily="49" charset="0"/>
              </a:rPr>
              <a:t>def</a:t>
            </a:r>
            <a:r>
              <a:rPr lang="en-US" sz="1200" b="0" dirty="0">
                <a:solidFill>
                  <a:srgbClr val="BBBEBF"/>
                </a:solidFill>
                <a:effectLst/>
                <a:latin typeface="Consolas" panose="020B0609020204030204" pitchFamily="49" charset="0"/>
              </a:rPr>
              <a:t> </a:t>
            </a:r>
            <a:r>
              <a:rPr lang="en-US" sz="1200" b="0" dirty="0" err="1">
                <a:solidFill>
                  <a:srgbClr val="D2A8FF"/>
                </a:solidFill>
                <a:effectLst/>
                <a:latin typeface="Consolas" panose="020B0609020204030204" pitchFamily="49" charset="0"/>
              </a:rPr>
              <a:t>million_seller</a:t>
            </a:r>
            <a:r>
              <a:rPr lang="en-US" sz="1200" b="0" dirty="0">
                <a:solidFill>
                  <a:srgbClr val="BBBEBF"/>
                </a:solidFill>
                <a:effectLst/>
                <a:latin typeface="Consolas" panose="020B0609020204030204" pitchFamily="49" charset="0"/>
              </a:rPr>
              <a:t>(</a:t>
            </a:r>
            <a:r>
              <a:rPr lang="en-US" sz="1200" b="0" dirty="0">
                <a:solidFill>
                  <a:srgbClr val="FFA657"/>
                </a:solidFill>
                <a:effectLst/>
                <a:latin typeface="Consolas" panose="020B0609020204030204" pitchFamily="49" charset="0"/>
              </a:rPr>
              <a:t>x</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BBBEBF"/>
                </a:solidFill>
                <a:effectLst/>
                <a:latin typeface="Consolas" panose="020B0609020204030204" pitchFamily="49" charset="0"/>
              </a:rPr>
              <a:t> </a:t>
            </a:r>
            <a:r>
              <a:rPr lang="en-US" sz="1200" b="0" dirty="0">
                <a:solidFill>
                  <a:srgbClr val="FFA657"/>
                </a:solidFill>
                <a:effectLst/>
                <a:latin typeface="Consolas" panose="020B0609020204030204" pitchFamily="49" charset="0"/>
              </a:rPr>
              <a:t>x</a:t>
            </a:r>
            <a:r>
              <a:rPr lang="en-US" sz="1200" b="0" dirty="0">
                <a:solidFill>
                  <a:srgbClr val="BBBEBF"/>
                </a:solidFill>
                <a:effectLst/>
                <a:latin typeface="Consolas" panose="020B0609020204030204" pitchFamily="49" charset="0"/>
              </a:rPr>
              <a:t> </a:t>
            </a:r>
            <a:r>
              <a:rPr lang="en-US" sz="1200" b="0" dirty="0">
                <a:solidFill>
                  <a:srgbClr val="D4D4D4"/>
                </a:solidFill>
                <a:effectLst/>
                <a:latin typeface="Consolas" panose="020B0609020204030204" pitchFamily="49" charset="0"/>
              </a:rPr>
              <a:t>&gt;=</a:t>
            </a:r>
            <a:r>
              <a:rPr lang="en-US" sz="1200" b="0" dirty="0">
                <a:solidFill>
                  <a:srgbClr val="BBBEBF"/>
                </a:solidFill>
                <a:effectLst/>
                <a:latin typeface="Consolas" panose="020B0609020204030204" pitchFamily="49" charset="0"/>
              </a:rPr>
              <a:t> </a:t>
            </a:r>
            <a:r>
              <a:rPr lang="en-US" sz="1200" b="0" dirty="0">
                <a:solidFill>
                  <a:srgbClr val="B5CEA8"/>
                </a:solidFill>
                <a:effectLst/>
                <a:latin typeface="Consolas" panose="020B0609020204030204" pitchFamily="49" charset="0"/>
              </a:rPr>
              <a:t>1</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"Yes"</a:t>
            </a:r>
            <a:endParaRPr lang="en-US" sz="1200" b="0" dirty="0">
              <a:solidFill>
                <a:srgbClr val="BBBEBF"/>
              </a:solidFill>
              <a:effectLst/>
              <a:latin typeface="Consolas" panose="020B0609020204030204" pitchFamily="49" charset="0"/>
            </a:endParaRP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else</a:t>
            </a:r>
            <a:r>
              <a:rPr lang="en-US" sz="1200" b="0" dirty="0">
                <a:solidFill>
                  <a:srgbClr val="BBBEBF"/>
                </a:solidFill>
                <a:effectLst/>
                <a:latin typeface="Consolas" panose="020B0609020204030204" pitchFamily="49" charset="0"/>
              </a:rPr>
              <a:t>:</a:t>
            </a:r>
          </a:p>
          <a:p>
            <a:pPr>
              <a:lnSpc>
                <a:spcPts val="1425"/>
              </a:lnSpc>
              <a:buNone/>
            </a:pPr>
            <a:r>
              <a:rPr lang="en-US" sz="1200" b="0" dirty="0">
                <a:solidFill>
                  <a:srgbClr val="BBBEBF"/>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BBBEBF"/>
                </a:solidFill>
                <a:effectLst/>
                <a:latin typeface="Consolas" panose="020B0609020204030204" pitchFamily="49" charset="0"/>
              </a:rPr>
              <a:t> </a:t>
            </a:r>
            <a:r>
              <a:rPr lang="en-US" sz="1200" b="0" dirty="0">
                <a:solidFill>
                  <a:srgbClr val="A5D6FF"/>
                </a:solidFill>
                <a:effectLst/>
                <a:latin typeface="Consolas" panose="020B0609020204030204" pitchFamily="49" charset="0"/>
              </a:rPr>
              <a:t>"No"</a:t>
            </a:r>
            <a:endParaRPr lang="en-US" sz="1200" b="0" dirty="0">
              <a:solidFill>
                <a:srgbClr val="BBBEBF"/>
              </a:solidFill>
              <a:effectLst/>
              <a:latin typeface="Consolas" panose="020B0609020204030204" pitchFamily="49" charset="0"/>
            </a:endParaRPr>
          </a:p>
          <a:p>
            <a:pPr>
              <a:lnSpc>
                <a:spcPts val="1425"/>
              </a:lnSpc>
              <a:buNone/>
            </a:pPr>
            <a:br>
              <a:rPr lang="en-US" sz="1200" b="0" dirty="0">
                <a:solidFill>
                  <a:srgbClr val="BBBEBF"/>
                </a:solidFill>
                <a:effectLst/>
                <a:latin typeface="Consolas" panose="020B0609020204030204" pitchFamily="49" charset="0"/>
              </a:rPr>
            </a:br>
            <a:endParaRPr lang="en-US" sz="1200" b="0" dirty="0">
              <a:solidFill>
                <a:srgbClr val="BBBEBF"/>
              </a:solidFill>
              <a:effectLst/>
              <a:latin typeface="Consolas" panose="020B0609020204030204" pitchFamily="49" charset="0"/>
            </a:endParaRPr>
          </a:p>
          <a:p>
            <a:pPr>
              <a:lnSpc>
                <a:spcPts val="1425"/>
              </a:lnSpc>
              <a:buNone/>
            </a:pPr>
            <a:r>
              <a:rPr lang="en-US" sz="1200" b="0" dirty="0" err="1">
                <a:solidFill>
                  <a:srgbClr val="C9D1D9"/>
                </a:solidFill>
                <a:effectLst/>
                <a:latin typeface="Consolas" panose="020B0609020204030204" pitchFamily="49" charset="0"/>
              </a:rPr>
              <a:t>df</a:t>
            </a:r>
            <a:r>
              <a:rPr lang="en-US" sz="1200" b="0" dirty="0">
                <a:solidFill>
                  <a:srgbClr val="BBBEBF"/>
                </a:solidFill>
                <a:effectLst/>
                <a:latin typeface="Consolas" panose="020B0609020204030204" pitchFamily="49" charset="0"/>
              </a:rPr>
              <a:t>[</a:t>
            </a:r>
            <a:r>
              <a:rPr lang="en-US" sz="1200" b="0" dirty="0">
                <a:solidFill>
                  <a:srgbClr val="A5D6FF"/>
                </a:solidFill>
                <a:effectLst/>
                <a:latin typeface="Consolas" panose="020B0609020204030204" pitchFamily="49" charset="0"/>
              </a:rPr>
              <a:t>"</a:t>
            </a:r>
            <a:r>
              <a:rPr lang="en-US" sz="1200" b="0" dirty="0" err="1">
                <a:solidFill>
                  <a:srgbClr val="A5D6FF"/>
                </a:solidFill>
                <a:effectLst/>
                <a:latin typeface="Consolas" panose="020B0609020204030204" pitchFamily="49" charset="0"/>
              </a:rPr>
              <a:t>Million_Seller</a:t>
            </a:r>
            <a:r>
              <a:rPr lang="en-US" sz="1200" b="0" dirty="0">
                <a:solidFill>
                  <a:srgbClr val="A5D6FF"/>
                </a:solidFill>
                <a:effectLst/>
                <a:latin typeface="Consolas" panose="020B0609020204030204" pitchFamily="49" charset="0"/>
              </a:rPr>
              <a:t>"</a:t>
            </a:r>
            <a:r>
              <a:rPr lang="en-US" sz="1200" b="0" dirty="0">
                <a:solidFill>
                  <a:srgbClr val="BBBEBF"/>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BBBEBF"/>
                </a:solidFill>
                <a:effectLst/>
                <a:latin typeface="Consolas" panose="020B0609020204030204" pitchFamily="49" charset="0"/>
              </a:rPr>
              <a:t> </a:t>
            </a:r>
            <a:r>
              <a:rPr lang="en-US" sz="1200" b="0" dirty="0" err="1">
                <a:solidFill>
                  <a:srgbClr val="C9D1D9"/>
                </a:solidFill>
                <a:effectLst/>
                <a:latin typeface="Consolas" panose="020B0609020204030204" pitchFamily="49" charset="0"/>
              </a:rPr>
              <a:t>df</a:t>
            </a:r>
            <a:r>
              <a:rPr lang="en-US" sz="1200" b="0" dirty="0">
                <a:solidFill>
                  <a:srgbClr val="BBBEBF"/>
                </a:solidFill>
                <a:effectLst/>
                <a:latin typeface="Consolas" panose="020B0609020204030204" pitchFamily="49" charset="0"/>
              </a:rPr>
              <a:t>[</a:t>
            </a:r>
            <a:r>
              <a:rPr lang="en-US" sz="1200" b="0" dirty="0">
                <a:solidFill>
                  <a:srgbClr val="A5D6FF"/>
                </a:solidFill>
                <a:effectLst/>
                <a:latin typeface="Consolas" panose="020B0609020204030204" pitchFamily="49" charset="0"/>
              </a:rPr>
              <a:t>"</a:t>
            </a:r>
            <a:r>
              <a:rPr lang="en-US" sz="1200" b="0" dirty="0" err="1">
                <a:solidFill>
                  <a:srgbClr val="A5D6FF"/>
                </a:solidFill>
                <a:effectLst/>
                <a:latin typeface="Consolas" panose="020B0609020204030204" pitchFamily="49" charset="0"/>
              </a:rPr>
              <a:t>Global_Sales</a:t>
            </a:r>
            <a:r>
              <a:rPr lang="en-US" sz="1200" b="0" dirty="0">
                <a:solidFill>
                  <a:srgbClr val="A5D6FF"/>
                </a:solidFill>
                <a:effectLst/>
                <a:latin typeface="Consolas" panose="020B0609020204030204" pitchFamily="49" charset="0"/>
              </a:rPr>
              <a:t>"</a:t>
            </a:r>
            <a:r>
              <a:rPr lang="en-US" sz="1200" b="0" dirty="0">
                <a:solidFill>
                  <a:srgbClr val="BBBEBF"/>
                </a:solidFill>
                <a:effectLst/>
                <a:latin typeface="Consolas" panose="020B0609020204030204" pitchFamily="49" charset="0"/>
              </a:rPr>
              <a:t>].</a:t>
            </a:r>
            <a:r>
              <a:rPr lang="en-US" sz="1200" b="0" dirty="0">
                <a:solidFill>
                  <a:srgbClr val="D2A8FF"/>
                </a:solidFill>
                <a:effectLst/>
                <a:latin typeface="Consolas" panose="020B0609020204030204" pitchFamily="49" charset="0"/>
              </a:rPr>
              <a:t>apply</a:t>
            </a:r>
            <a:r>
              <a:rPr lang="en-US" sz="1200" b="0" dirty="0">
                <a:solidFill>
                  <a:srgbClr val="BBBEBF"/>
                </a:solidFill>
                <a:effectLst/>
                <a:latin typeface="Consolas" panose="020B0609020204030204" pitchFamily="49" charset="0"/>
              </a:rPr>
              <a:t>(</a:t>
            </a:r>
            <a:r>
              <a:rPr lang="en-US" sz="1200" b="0" dirty="0" err="1">
                <a:solidFill>
                  <a:srgbClr val="D2A8FF"/>
                </a:solidFill>
                <a:effectLst/>
                <a:latin typeface="Consolas" panose="020B0609020204030204" pitchFamily="49" charset="0"/>
              </a:rPr>
              <a:t>million_seller</a:t>
            </a:r>
            <a:r>
              <a:rPr lang="en-US" sz="1200" b="0" dirty="0">
                <a:solidFill>
                  <a:srgbClr val="BBBEBF"/>
                </a:solidFill>
                <a:effectLst/>
                <a:latin typeface="Consolas" panose="020B0609020204030204" pitchFamily="49" charset="0"/>
              </a:rPr>
              <a:t>)</a:t>
            </a:r>
          </a:p>
          <a:p>
            <a:pPr>
              <a:lnSpc>
                <a:spcPts val="1425"/>
              </a:lnSpc>
              <a:buNone/>
            </a:pPr>
            <a:endParaRPr lang="en-US" sz="1200" b="0" dirty="0">
              <a:solidFill>
                <a:srgbClr val="BBBEBF"/>
              </a:solidFill>
              <a:effectLst/>
              <a:latin typeface="Consolas" panose="020B0609020204030204" pitchFamily="49" charset="0"/>
            </a:endParaRPr>
          </a:p>
        </p:txBody>
      </p:sp>
      <p:sp>
        <p:nvSpPr>
          <p:cNvPr id="9" name="Shape 7"/>
          <p:cNvSpPr/>
          <p:nvPr/>
        </p:nvSpPr>
        <p:spPr>
          <a:xfrm>
            <a:off x="5715000" y="1600200"/>
            <a:ext cx="5925312" cy="1920240"/>
          </a:xfrm>
          <a:prstGeom prst="roundRect">
            <a:avLst>
              <a:gd name="adj" fmla="val 3810"/>
            </a:avLst>
          </a:prstGeom>
          <a:solidFill>
            <a:srgbClr val="171A26"/>
          </a:solidFill>
          <a:ln w="12700">
            <a:solidFill>
              <a:srgbClr val="00F0FF"/>
            </a:solidFill>
            <a:prstDash val="solid"/>
          </a:ln>
        </p:spPr>
        <p:txBody>
          <a:bodyPr/>
          <a:lstStyle/>
          <a:p>
            <a:endParaRPr lang="en-US"/>
          </a:p>
        </p:txBody>
      </p:sp>
      <p:sp>
        <p:nvSpPr>
          <p:cNvPr id="10" name="Text 8"/>
          <p:cNvSpPr/>
          <p:nvPr/>
        </p:nvSpPr>
        <p:spPr>
          <a:xfrm>
            <a:off x="5989320" y="1737360"/>
            <a:ext cx="5394960" cy="274320"/>
          </a:xfrm>
          <a:prstGeom prst="rect">
            <a:avLst/>
          </a:prstGeom>
          <a:noFill/>
          <a:ln/>
        </p:spPr>
        <p:txBody>
          <a:bodyPr wrap="square" rtlCol="0" anchor="ctr"/>
          <a:lstStyle/>
          <a:p>
            <a:pPr marL="0" indent="0">
              <a:buNone/>
            </a:pPr>
            <a:r>
              <a:rPr lang="en-US" sz="1200" b="1" kern="0" spc="100" dirty="0">
                <a:solidFill>
                  <a:srgbClr val="FF007F"/>
                </a:solidFill>
                <a:latin typeface="Calibri" pitchFamily="34" charset="0"/>
                <a:ea typeface="Calibri" pitchFamily="34" charset="-122"/>
                <a:cs typeface="Calibri" pitchFamily="34" charset="-120"/>
              </a:rPr>
              <a:t>DATA CLEANSING PROTOCOLS</a:t>
            </a:r>
            <a:endParaRPr lang="en-US" sz="1200" dirty="0"/>
          </a:p>
        </p:txBody>
      </p:sp>
      <p:sp>
        <p:nvSpPr>
          <p:cNvPr id="11" name="Text 9"/>
          <p:cNvSpPr/>
          <p:nvPr/>
        </p:nvSpPr>
        <p:spPr>
          <a:xfrm>
            <a:off x="5989320" y="2057400"/>
            <a:ext cx="5394960" cy="1371600"/>
          </a:xfrm>
          <a:prstGeom prst="rect">
            <a:avLst/>
          </a:prstGeom>
          <a:noFill/>
          <a:ln/>
        </p:spPr>
        <p:txBody>
          <a:bodyPr wrap="square" rtlCol="0" anchor="ctr"/>
          <a:lstStyle/>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Handled historical missing values (e.g., null release years) dynamically via Python.
</a:t>
            </a:r>
            <a:endParaRPr lang="en-US" sz="1250" dirty="0"/>
          </a:p>
          <a:p>
            <a:pPr marL="342900" indent="-3429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Standardized regional and global revenue records to eliminate computation discrepancies.</a:t>
            </a:r>
            <a:endParaRPr lang="en-US" sz="1250" dirty="0"/>
          </a:p>
        </p:txBody>
      </p:sp>
      <p:sp>
        <p:nvSpPr>
          <p:cNvPr id="12" name="Shape 10"/>
          <p:cNvSpPr/>
          <p:nvPr/>
        </p:nvSpPr>
        <p:spPr>
          <a:xfrm>
            <a:off x="5715000" y="3703320"/>
            <a:ext cx="5925312" cy="2331720"/>
          </a:xfrm>
          <a:prstGeom prst="roundRect">
            <a:avLst>
              <a:gd name="adj" fmla="val 3137"/>
            </a:avLst>
          </a:prstGeom>
          <a:solidFill>
            <a:srgbClr val="171A26"/>
          </a:solidFill>
          <a:ln w="12700">
            <a:solidFill>
              <a:srgbClr val="00F0FF"/>
            </a:solidFill>
            <a:prstDash val="solid"/>
          </a:ln>
        </p:spPr>
        <p:txBody>
          <a:bodyPr/>
          <a:lstStyle/>
          <a:p>
            <a:endParaRPr lang="en-US"/>
          </a:p>
        </p:txBody>
      </p:sp>
      <p:sp>
        <p:nvSpPr>
          <p:cNvPr id="13" name="Text 11"/>
          <p:cNvSpPr/>
          <p:nvPr/>
        </p:nvSpPr>
        <p:spPr>
          <a:xfrm>
            <a:off x="5989320" y="3840480"/>
            <a:ext cx="5394960" cy="274320"/>
          </a:xfrm>
          <a:prstGeom prst="rect">
            <a:avLst/>
          </a:prstGeom>
          <a:noFill/>
          <a:ln/>
        </p:spPr>
        <p:txBody>
          <a:bodyPr wrap="square" rtlCol="0" anchor="ctr"/>
          <a:lstStyle/>
          <a:p>
            <a:pPr marL="0" indent="0">
              <a:buNone/>
            </a:pPr>
            <a:r>
              <a:rPr lang="en-US" sz="1200" b="1" kern="0" spc="100" dirty="0">
                <a:solidFill>
                  <a:srgbClr val="00F0FF"/>
                </a:solidFill>
                <a:latin typeface="Calibri" pitchFamily="34" charset="0"/>
                <a:ea typeface="Calibri" pitchFamily="34" charset="-122"/>
                <a:cs typeface="Calibri" pitchFamily="34" charset="-120"/>
              </a:rPr>
              <a:t>NEW FEATURES ENGINEERED</a:t>
            </a:r>
            <a:endParaRPr lang="en-US" sz="1200" dirty="0"/>
          </a:p>
        </p:txBody>
      </p:sp>
      <p:sp>
        <p:nvSpPr>
          <p:cNvPr id="14" name="Text 12"/>
          <p:cNvSpPr/>
          <p:nvPr/>
        </p:nvSpPr>
        <p:spPr>
          <a:xfrm>
            <a:off x="5989320" y="4160520"/>
            <a:ext cx="5394960" cy="1737360"/>
          </a:xfrm>
          <a:prstGeom prst="rect">
            <a:avLst/>
          </a:prstGeom>
          <a:noFill/>
          <a:ln/>
        </p:spPr>
        <p:txBody>
          <a:bodyPr wrap="square" rtlCol="0" anchor="ctr"/>
          <a:lstStyle/>
          <a:p>
            <a:pPr marL="0" indent="0">
              <a:spcAft>
                <a:spcPts val="400"/>
              </a:spcAft>
              <a:buNone/>
            </a:pPr>
            <a:r>
              <a:rPr lang="en-US" sz="1150" b="1" dirty="0">
                <a:solidFill>
                  <a:srgbClr val="FFFFFF"/>
                </a:solidFill>
                <a:latin typeface="Calibri" pitchFamily="34" charset="0"/>
                <a:ea typeface="Calibri" pitchFamily="34" charset="-122"/>
                <a:cs typeface="Calibri" pitchFamily="34" charset="-120"/>
              </a:rPr>
              <a:t>Hardware Manufacturer — </a:t>
            </a:r>
            <a:endParaRPr lang="en-US" sz="1150" dirty="0"/>
          </a:p>
          <a:p>
            <a:pPr marL="0" indent="0">
              <a:spcAft>
                <a:spcPts val="400"/>
              </a:spcAft>
              <a:buNone/>
            </a:pPr>
            <a:r>
              <a:rPr lang="en-US" sz="1150" dirty="0">
                <a:solidFill>
                  <a:srgbClr val="8B93A8"/>
                </a:solidFill>
                <a:latin typeface="Calibri" pitchFamily="34" charset="0"/>
                <a:ea typeface="Calibri" pitchFamily="34" charset="-122"/>
                <a:cs typeface="Calibri" pitchFamily="34" charset="-120"/>
              </a:rPr>
              <a:t>Grouped platforms into parent brands (Sony, Microsoft, Nintendo, Sega).
</a:t>
            </a:r>
            <a:endParaRPr lang="en-US" sz="1150" dirty="0"/>
          </a:p>
          <a:p>
            <a:pPr marL="0" indent="0">
              <a:spcAft>
                <a:spcPts val="400"/>
              </a:spcAft>
              <a:buNone/>
            </a:pPr>
            <a:r>
              <a:rPr lang="en-US" sz="1150" b="1" dirty="0">
                <a:solidFill>
                  <a:srgbClr val="FFFFFF"/>
                </a:solidFill>
                <a:latin typeface="Calibri" pitchFamily="34" charset="0"/>
                <a:ea typeface="Calibri" pitchFamily="34" charset="-122"/>
                <a:cs typeface="Calibri" pitchFamily="34" charset="-120"/>
              </a:rPr>
              <a:t>Release Decade — </a:t>
            </a:r>
            <a:endParaRPr lang="en-US" sz="1150" dirty="0"/>
          </a:p>
          <a:p>
            <a:pPr marL="0" indent="0">
              <a:spcAft>
                <a:spcPts val="400"/>
              </a:spcAft>
              <a:buNone/>
            </a:pPr>
            <a:r>
              <a:rPr lang="en-US" sz="1150" dirty="0">
                <a:solidFill>
                  <a:srgbClr val="8B93A8"/>
                </a:solidFill>
                <a:latin typeface="Calibri" pitchFamily="34" charset="0"/>
                <a:ea typeface="Calibri" pitchFamily="34" charset="-122"/>
                <a:cs typeface="Calibri" pitchFamily="34" charset="-120"/>
              </a:rPr>
              <a:t>Segmented years into clear structural decades (80s, 90s, 00s, 10s).
</a:t>
            </a:r>
            <a:endParaRPr lang="en-US" sz="1150" dirty="0"/>
          </a:p>
          <a:p>
            <a:pPr marL="0" indent="0">
              <a:spcAft>
                <a:spcPts val="400"/>
              </a:spcAft>
              <a:buNone/>
            </a:pPr>
            <a:r>
              <a:rPr lang="en-US" sz="1150" b="1" dirty="0">
                <a:solidFill>
                  <a:srgbClr val="FFFFFF"/>
                </a:solidFill>
                <a:latin typeface="Calibri" pitchFamily="34" charset="0"/>
                <a:ea typeface="Calibri" pitchFamily="34" charset="-122"/>
                <a:cs typeface="Calibri" pitchFamily="34" charset="-120"/>
              </a:rPr>
              <a:t>Million-Seller Flag — </a:t>
            </a:r>
            <a:endParaRPr lang="en-US" sz="1150" dirty="0"/>
          </a:p>
          <a:p>
            <a:pPr marL="0" indent="0">
              <a:spcAft>
                <a:spcPts val="400"/>
              </a:spcAft>
              <a:buNone/>
            </a:pPr>
            <a:r>
              <a:rPr lang="en-US" sz="1150" dirty="0">
                <a:solidFill>
                  <a:srgbClr val="8B93A8"/>
                </a:solidFill>
                <a:latin typeface="Calibri" pitchFamily="34" charset="0"/>
                <a:ea typeface="Calibri" pitchFamily="34" charset="-122"/>
                <a:cs typeface="Calibri" pitchFamily="34" charset="-120"/>
              </a:rPr>
              <a:t>Binary classifier for elite titles (≥ 1.0M copies).</a:t>
            </a:r>
            <a:endParaRPr lang="en-US" sz="1150" dirty="0"/>
          </a:p>
        </p:txBody>
      </p:sp>
      <p:sp>
        <p:nvSpPr>
          <p:cNvPr id="15" name="Text 13"/>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05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sp>
        <p:nvSpPr>
          <p:cNvPr id="17" name="Shape 8">
            <a:extLst>
              <a:ext uri="{FF2B5EF4-FFF2-40B4-BE49-F238E27FC236}">
                <a16:creationId xmlns:a16="http://schemas.microsoft.com/office/drawing/2014/main" id="{25CE5E06-A3E7-D060-3CFE-E04DB8468BCF}"/>
              </a:ext>
            </a:extLst>
          </p:cNvPr>
          <p:cNvSpPr/>
          <p:nvPr/>
        </p:nvSpPr>
        <p:spPr>
          <a:xfrm flipV="1">
            <a:off x="539680" y="4239490"/>
            <a:ext cx="4937760" cy="0"/>
          </a:xfrm>
          <a:prstGeom prst="line">
            <a:avLst/>
          </a:prstGeom>
          <a:noFill/>
          <a:ln w="19050">
            <a:solidFill>
              <a:srgbClr val="00F0FF"/>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STEP 2 — MOHAMED HANY</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Relational Data Warehousing</a:t>
            </a:r>
            <a:endParaRPr lang="en-US" sz="3000" dirty="0"/>
          </a:p>
        </p:txBody>
      </p:sp>
      <p:sp>
        <p:nvSpPr>
          <p:cNvPr id="6" name="Shape 4"/>
          <p:cNvSpPr/>
          <p:nvPr/>
        </p:nvSpPr>
        <p:spPr>
          <a:xfrm>
            <a:off x="548640" y="1600200"/>
            <a:ext cx="11091672" cy="868680"/>
          </a:xfrm>
          <a:prstGeom prst="roundRect">
            <a:avLst>
              <a:gd name="adj" fmla="val 8421"/>
            </a:avLst>
          </a:prstGeom>
          <a:solidFill>
            <a:srgbClr val="0D0F17"/>
          </a:solidFill>
          <a:ln w="12700">
            <a:solidFill>
              <a:srgbClr val="1D2130"/>
            </a:solidFill>
            <a:prstDash val="solid"/>
          </a:ln>
        </p:spPr>
        <p:txBody>
          <a:bodyPr/>
          <a:lstStyle/>
          <a:p>
            <a:endParaRPr lang="en-US"/>
          </a:p>
        </p:txBody>
      </p:sp>
      <p:sp>
        <p:nvSpPr>
          <p:cNvPr id="7" name="Text 5"/>
          <p:cNvSpPr/>
          <p:nvPr/>
        </p:nvSpPr>
        <p:spPr>
          <a:xfrm>
            <a:off x="868680" y="1691640"/>
            <a:ext cx="4572000" cy="274320"/>
          </a:xfrm>
          <a:prstGeom prst="rect">
            <a:avLst/>
          </a:prstGeom>
          <a:noFill/>
          <a:ln/>
        </p:spPr>
        <p:txBody>
          <a:bodyPr wrap="square" rtlCol="0" anchor="ctr"/>
          <a:lstStyle/>
          <a:p>
            <a:pPr marL="0" indent="0">
              <a:buNone/>
            </a:pPr>
            <a:r>
              <a:rPr lang="en-US" sz="1200" b="1" kern="0" spc="150" dirty="0">
                <a:solidFill>
                  <a:srgbClr val="00F0FF"/>
                </a:solidFill>
                <a:latin typeface="Calibri" pitchFamily="34" charset="0"/>
                <a:ea typeface="Calibri" pitchFamily="34" charset="-122"/>
                <a:cs typeface="Calibri" pitchFamily="34" charset="-120"/>
              </a:rPr>
              <a:t>SCHEMATIC NORMALIZATION</a:t>
            </a:r>
            <a:endParaRPr lang="en-US" sz="1200" dirty="0"/>
          </a:p>
        </p:txBody>
      </p:sp>
      <p:sp>
        <p:nvSpPr>
          <p:cNvPr id="8" name="Text 6"/>
          <p:cNvSpPr/>
          <p:nvPr/>
        </p:nvSpPr>
        <p:spPr>
          <a:xfrm>
            <a:off x="868680" y="1965960"/>
            <a:ext cx="10424160" cy="45720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Deconstructed the flat 16,000-row source file into a modular 4-table relational database architecture to eliminate anomalies and redundancy.</a:t>
            </a:r>
            <a:endParaRPr lang="en-US" sz="1250" dirty="0"/>
          </a:p>
        </p:txBody>
      </p:sp>
      <p:sp>
        <p:nvSpPr>
          <p:cNvPr id="24" name="Text 22"/>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06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pic>
        <p:nvPicPr>
          <p:cNvPr id="26" name="Picture 25">
            <a:extLst>
              <a:ext uri="{FF2B5EF4-FFF2-40B4-BE49-F238E27FC236}">
                <a16:creationId xmlns:a16="http://schemas.microsoft.com/office/drawing/2014/main" id="{FE991692-EA64-D933-AC4B-196E97E1215D}"/>
              </a:ext>
            </a:extLst>
          </p:cNvPr>
          <p:cNvPicPr>
            <a:picLocks noChangeAspect="1"/>
          </p:cNvPicPr>
          <p:nvPr/>
        </p:nvPicPr>
        <p:blipFill>
          <a:blip r:embed="rId3"/>
          <a:stretch/>
        </p:blipFill>
        <p:spPr>
          <a:xfrm>
            <a:off x="2170545" y="2512845"/>
            <a:ext cx="7795491" cy="40251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STEP 3 — AHMED HUSSEIN</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Analytical Data Modeling</a:t>
            </a:r>
            <a:endParaRPr lang="en-US" sz="3000" dirty="0"/>
          </a:p>
        </p:txBody>
      </p:sp>
      <p:sp>
        <p:nvSpPr>
          <p:cNvPr id="6" name="Shape 4"/>
          <p:cNvSpPr/>
          <p:nvPr/>
        </p:nvSpPr>
        <p:spPr>
          <a:xfrm>
            <a:off x="548640" y="1600200"/>
            <a:ext cx="6309360" cy="4434840"/>
          </a:xfrm>
          <a:prstGeom prst="roundRect">
            <a:avLst>
              <a:gd name="adj" fmla="val 1649"/>
            </a:avLst>
          </a:prstGeom>
          <a:solidFill>
            <a:srgbClr val="0B0D14"/>
          </a:solidFill>
          <a:ln w="12700">
            <a:solidFill>
              <a:srgbClr val="00F0FF"/>
            </a:solidFill>
            <a:prstDash val="solid"/>
          </a:ln>
        </p:spPr>
        <p:txBody>
          <a:bodyPr/>
          <a:lstStyle/>
          <a:p>
            <a:endParaRPr lang="en-US" dirty="0"/>
          </a:p>
        </p:txBody>
      </p:sp>
      <p:sp>
        <p:nvSpPr>
          <p:cNvPr id="7" name="Text 5"/>
          <p:cNvSpPr/>
          <p:nvPr/>
        </p:nvSpPr>
        <p:spPr>
          <a:xfrm>
            <a:off x="822960" y="1737360"/>
            <a:ext cx="5760720" cy="274320"/>
          </a:xfrm>
          <a:prstGeom prst="rect">
            <a:avLst/>
          </a:prstGeom>
          <a:noFill/>
          <a:ln/>
        </p:spPr>
        <p:txBody>
          <a:bodyPr wrap="square" rtlCol="0" anchor="ctr"/>
          <a:lstStyle/>
          <a:p>
            <a:pPr marL="0" indent="0">
              <a:buNone/>
            </a:pPr>
            <a:r>
              <a:rPr lang="en-US" sz="1100" b="1" kern="0" spc="150" dirty="0">
                <a:solidFill>
                  <a:srgbClr val="8B93A8"/>
                </a:solidFill>
                <a:latin typeface="Calibri" pitchFamily="34" charset="0"/>
                <a:ea typeface="Calibri" pitchFamily="34" charset="-122"/>
                <a:cs typeface="Calibri" pitchFamily="34" charset="-120"/>
              </a:rPr>
              <a:t>POWER BI MODEL VIEW</a:t>
            </a:r>
            <a:endParaRPr lang="en-US" sz="1100" dirty="0"/>
          </a:p>
        </p:txBody>
      </p:sp>
      <p:sp>
        <p:nvSpPr>
          <p:cNvPr id="22" name="Shape 20"/>
          <p:cNvSpPr/>
          <p:nvPr/>
        </p:nvSpPr>
        <p:spPr>
          <a:xfrm>
            <a:off x="7040880" y="1600200"/>
            <a:ext cx="4599432" cy="2103120"/>
          </a:xfrm>
          <a:prstGeom prst="roundRect">
            <a:avLst>
              <a:gd name="adj" fmla="val 3478"/>
            </a:avLst>
          </a:prstGeom>
          <a:solidFill>
            <a:srgbClr val="171A26"/>
          </a:solidFill>
          <a:ln w="12700">
            <a:solidFill>
              <a:srgbClr val="00F0FF"/>
            </a:solidFill>
            <a:prstDash val="solid"/>
          </a:ln>
        </p:spPr>
        <p:txBody>
          <a:bodyPr/>
          <a:lstStyle/>
          <a:p>
            <a:endParaRPr lang="en-US"/>
          </a:p>
        </p:txBody>
      </p:sp>
      <p:sp>
        <p:nvSpPr>
          <p:cNvPr id="23" name="Text 21"/>
          <p:cNvSpPr/>
          <p:nvPr/>
        </p:nvSpPr>
        <p:spPr>
          <a:xfrm>
            <a:off x="7315200" y="1737360"/>
            <a:ext cx="4114800" cy="274320"/>
          </a:xfrm>
          <a:prstGeom prst="rect">
            <a:avLst/>
          </a:prstGeom>
          <a:noFill/>
          <a:ln/>
        </p:spPr>
        <p:txBody>
          <a:bodyPr wrap="square" rtlCol="0" anchor="ctr"/>
          <a:lstStyle/>
          <a:p>
            <a:pPr marL="0" indent="0">
              <a:buNone/>
            </a:pPr>
            <a:r>
              <a:rPr lang="en-US" sz="1200" b="1" kern="0" spc="100" dirty="0">
                <a:solidFill>
                  <a:srgbClr val="00F0FF"/>
                </a:solidFill>
                <a:latin typeface="Calibri" pitchFamily="34" charset="0"/>
                <a:ea typeface="Calibri" pitchFamily="34" charset="-122"/>
                <a:cs typeface="Calibri" pitchFamily="34" charset="-120"/>
              </a:rPr>
              <a:t>THE STAR SCHEMA</a:t>
            </a:r>
            <a:endParaRPr lang="en-US" sz="1200" dirty="0"/>
          </a:p>
        </p:txBody>
      </p:sp>
      <p:sp>
        <p:nvSpPr>
          <p:cNvPr id="24" name="Text 22"/>
          <p:cNvSpPr/>
          <p:nvPr/>
        </p:nvSpPr>
        <p:spPr>
          <a:xfrm>
            <a:off x="7315200" y="2057400"/>
            <a:ext cx="4114800" cy="1554480"/>
          </a:xfrm>
          <a:prstGeom prst="rect">
            <a:avLst/>
          </a:prstGeom>
          <a:noFill/>
          <a:ln/>
        </p:spPr>
        <p:txBody>
          <a:bodyPr wrap="square" rtlCol="0" anchor="ctr"/>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Implemented a highly optimized analytical Star Schema for seamless data mashups.
</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Configured strict One-to-Many (1:*) joins radiating from dimension tables to the Fact table.</a:t>
            </a:r>
            <a:endParaRPr lang="en-US" sz="1200" dirty="0"/>
          </a:p>
        </p:txBody>
      </p:sp>
      <p:sp>
        <p:nvSpPr>
          <p:cNvPr id="25" name="Shape 23"/>
          <p:cNvSpPr/>
          <p:nvPr/>
        </p:nvSpPr>
        <p:spPr>
          <a:xfrm>
            <a:off x="7040880" y="3886200"/>
            <a:ext cx="4599432" cy="2148840"/>
          </a:xfrm>
          <a:prstGeom prst="roundRect">
            <a:avLst>
              <a:gd name="adj" fmla="val 3404"/>
            </a:avLst>
          </a:prstGeom>
          <a:solidFill>
            <a:srgbClr val="171A26"/>
          </a:solidFill>
          <a:ln w="12700">
            <a:solidFill>
              <a:srgbClr val="00F0FF"/>
            </a:solidFill>
            <a:prstDash val="solid"/>
          </a:ln>
        </p:spPr>
        <p:txBody>
          <a:bodyPr/>
          <a:lstStyle/>
          <a:p>
            <a:endParaRPr lang="en-US"/>
          </a:p>
        </p:txBody>
      </p:sp>
      <p:sp>
        <p:nvSpPr>
          <p:cNvPr id="26" name="Text 24"/>
          <p:cNvSpPr/>
          <p:nvPr/>
        </p:nvSpPr>
        <p:spPr>
          <a:xfrm>
            <a:off x="7315200" y="4023360"/>
            <a:ext cx="4114800" cy="274320"/>
          </a:xfrm>
          <a:prstGeom prst="rect">
            <a:avLst/>
          </a:prstGeom>
          <a:noFill/>
          <a:ln/>
        </p:spPr>
        <p:txBody>
          <a:bodyPr wrap="square" rtlCol="0" anchor="ctr"/>
          <a:lstStyle/>
          <a:p>
            <a:pPr marL="0" indent="0">
              <a:buNone/>
            </a:pPr>
            <a:r>
              <a:rPr lang="en-US" sz="1200" b="1" kern="0" spc="100" dirty="0">
                <a:solidFill>
                  <a:srgbClr val="FF007F"/>
                </a:solidFill>
                <a:latin typeface="Calibri" pitchFamily="34" charset="0"/>
                <a:ea typeface="Calibri" pitchFamily="34" charset="-122"/>
                <a:cs typeface="Calibri" pitchFamily="34" charset="-120"/>
              </a:rPr>
              <a:t>PROPAGATION ENGINE</a:t>
            </a:r>
            <a:endParaRPr lang="en-US" sz="1200" dirty="0"/>
          </a:p>
        </p:txBody>
      </p:sp>
      <p:sp>
        <p:nvSpPr>
          <p:cNvPr id="27" name="Text 25"/>
          <p:cNvSpPr/>
          <p:nvPr/>
        </p:nvSpPr>
        <p:spPr>
          <a:xfrm>
            <a:off x="7315200" y="4343400"/>
            <a:ext cx="4114800" cy="1600200"/>
          </a:xfrm>
          <a:prstGeom prst="rect">
            <a:avLst/>
          </a:prstGeom>
          <a:noFill/>
          <a:ln/>
        </p:spPr>
        <p:txBody>
          <a:bodyPr wrap="square" rtlCol="0" anchor="ctr"/>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Activated bi-directional filtering (Cross Filter Direction = “Both”) on core dimensions.
</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Result: </a:t>
            </a:r>
            <a:r>
              <a:rPr lang="en-US" sz="1200" dirty="0">
                <a:solidFill>
                  <a:srgbClr val="FFFFFF"/>
                </a:solidFill>
                <a:latin typeface="Calibri" pitchFamily="34" charset="0"/>
                <a:cs typeface="Calibri" pitchFamily="34" charset="-120"/>
              </a:rPr>
              <a:t>Dynamic filtering across all visuals.</a:t>
            </a:r>
          </a:p>
        </p:txBody>
      </p:sp>
      <p:sp>
        <p:nvSpPr>
          <p:cNvPr id="28" name="Text 26"/>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07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pic>
        <p:nvPicPr>
          <p:cNvPr id="30" name="Picture 29">
            <a:extLst>
              <a:ext uri="{FF2B5EF4-FFF2-40B4-BE49-F238E27FC236}">
                <a16:creationId xmlns:a16="http://schemas.microsoft.com/office/drawing/2014/main" id="{21445600-FC5F-F05B-51DC-E161F618ADD4}"/>
              </a:ext>
            </a:extLst>
          </p:cNvPr>
          <p:cNvPicPr>
            <a:picLocks noChangeAspect="1"/>
          </p:cNvPicPr>
          <p:nvPr/>
        </p:nvPicPr>
        <p:blipFill>
          <a:blip r:embed="rId3"/>
          <a:stretch/>
        </p:blipFill>
        <p:spPr>
          <a:xfrm>
            <a:off x="762000" y="2008487"/>
            <a:ext cx="5999017" cy="39351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STEP 3 (CONT.) — AHMED HUSSEIN</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Core Analytical DAX Expressions</a:t>
            </a:r>
            <a:endParaRPr lang="en-US" sz="3000" dirty="0"/>
          </a:p>
        </p:txBody>
      </p:sp>
      <p:sp>
        <p:nvSpPr>
          <p:cNvPr id="6" name="Shape 4"/>
          <p:cNvSpPr/>
          <p:nvPr/>
        </p:nvSpPr>
        <p:spPr>
          <a:xfrm>
            <a:off x="548640" y="1600200"/>
            <a:ext cx="11091672" cy="1234440"/>
          </a:xfrm>
          <a:prstGeom prst="roundRect">
            <a:avLst>
              <a:gd name="adj" fmla="val 5926"/>
            </a:avLst>
          </a:prstGeom>
          <a:solidFill>
            <a:srgbClr val="0D0F17"/>
          </a:solidFill>
          <a:ln w="12700">
            <a:solidFill>
              <a:srgbClr val="1D2130"/>
            </a:solidFill>
            <a:prstDash val="solid"/>
          </a:ln>
        </p:spPr>
        <p:txBody>
          <a:bodyPr/>
          <a:lstStyle/>
          <a:p>
            <a:endParaRPr lang="en-US"/>
          </a:p>
        </p:txBody>
      </p:sp>
      <p:sp>
        <p:nvSpPr>
          <p:cNvPr id="7" name="Text 5"/>
          <p:cNvSpPr/>
          <p:nvPr/>
        </p:nvSpPr>
        <p:spPr>
          <a:xfrm>
            <a:off x="822960" y="1691640"/>
            <a:ext cx="2834640" cy="365760"/>
          </a:xfrm>
          <a:prstGeom prst="rect">
            <a:avLst/>
          </a:prstGeom>
          <a:noFill/>
          <a:ln/>
        </p:spPr>
        <p:txBody>
          <a:bodyPr wrap="square" rtlCol="0" anchor="ctr"/>
          <a:lstStyle/>
          <a:p>
            <a:pPr marL="0" indent="0">
              <a:buNone/>
            </a:pPr>
            <a:r>
              <a:rPr lang="en-US" sz="1400" b="1" dirty="0">
                <a:solidFill>
                  <a:srgbClr val="FF007F"/>
                </a:solidFill>
                <a:latin typeface="Arial" pitchFamily="34" charset="0"/>
                <a:ea typeface="Arial" pitchFamily="34" charset="-122"/>
                <a:cs typeface="Arial" pitchFamily="34" charset="-120"/>
              </a:rPr>
              <a:t>Platform Lifespan</a:t>
            </a:r>
            <a:endParaRPr lang="en-US" sz="1400" dirty="0"/>
          </a:p>
        </p:txBody>
      </p:sp>
      <p:sp>
        <p:nvSpPr>
          <p:cNvPr id="8" name="Text 6"/>
          <p:cNvSpPr/>
          <p:nvPr/>
        </p:nvSpPr>
        <p:spPr>
          <a:xfrm>
            <a:off x="822960" y="2057400"/>
            <a:ext cx="6217920" cy="685800"/>
          </a:xfrm>
          <a:prstGeom prst="rect">
            <a:avLst/>
          </a:prstGeom>
          <a:noFill/>
          <a:ln/>
        </p:spPr>
        <p:txBody>
          <a:bodyPr wrap="square" rtlCol="0" anchor="t"/>
          <a:lstStyle/>
          <a:p>
            <a:pPr marL="0" indent="0">
              <a:buNone/>
            </a:pPr>
            <a:r>
              <a:rPr lang="en-US" sz="1050" dirty="0">
                <a:solidFill>
                  <a:srgbClr val="00F0FF"/>
                </a:solidFill>
                <a:latin typeface="Courier New" pitchFamily="34" charset="0"/>
                <a:ea typeface="Courier New" pitchFamily="34" charset="-122"/>
                <a:cs typeface="Courier New" pitchFamily="34" charset="-120"/>
              </a:rPr>
              <a:t>Platform_Lifespan_Years =</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[Platform_Last_Year] -</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[Platform_First_Year] + 1</a:t>
            </a:r>
            <a:endParaRPr lang="en-US" sz="1050" dirty="0"/>
          </a:p>
        </p:txBody>
      </p:sp>
      <p:sp>
        <p:nvSpPr>
          <p:cNvPr id="9" name="Text 7"/>
          <p:cNvSpPr/>
          <p:nvPr/>
        </p:nvSpPr>
        <p:spPr>
          <a:xfrm>
            <a:off x="7315200" y="1719072"/>
            <a:ext cx="4114800" cy="228600"/>
          </a:xfrm>
          <a:prstGeom prst="rect">
            <a:avLst/>
          </a:prstGeom>
          <a:noFill/>
          <a:ln/>
        </p:spPr>
        <p:txBody>
          <a:bodyPr wrap="square" rtlCol="0" anchor="ctr"/>
          <a:lstStyle/>
          <a:p>
            <a:pPr marL="0" indent="0">
              <a:buNone/>
            </a:pPr>
            <a:r>
              <a:rPr lang="en-US" sz="950" b="1" kern="0" spc="100" dirty="0">
                <a:solidFill>
                  <a:srgbClr val="8B93A8"/>
                </a:solidFill>
                <a:latin typeface="Calibri" pitchFamily="34" charset="0"/>
                <a:ea typeface="Calibri" pitchFamily="34" charset="-122"/>
                <a:cs typeface="Calibri" pitchFamily="34" charset="-120"/>
              </a:rPr>
              <a:t>STRATEGIC USE</a:t>
            </a:r>
            <a:endParaRPr lang="en-US" sz="950" dirty="0"/>
          </a:p>
        </p:txBody>
      </p:sp>
      <p:sp>
        <p:nvSpPr>
          <p:cNvPr id="10" name="Text 8"/>
          <p:cNvSpPr/>
          <p:nvPr/>
        </p:nvSpPr>
        <p:spPr>
          <a:xfrm>
            <a:off x="7315200" y="1984248"/>
            <a:ext cx="4114800"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Quantifies active console market duration.</a:t>
            </a:r>
            <a:endParaRPr lang="en-US" sz="1200" dirty="0"/>
          </a:p>
        </p:txBody>
      </p:sp>
      <p:sp>
        <p:nvSpPr>
          <p:cNvPr id="11" name="Shape 9"/>
          <p:cNvSpPr/>
          <p:nvPr/>
        </p:nvSpPr>
        <p:spPr>
          <a:xfrm>
            <a:off x="548640" y="3035808"/>
            <a:ext cx="11091672" cy="1234440"/>
          </a:xfrm>
          <a:prstGeom prst="roundRect">
            <a:avLst>
              <a:gd name="adj" fmla="val 5926"/>
            </a:avLst>
          </a:prstGeom>
          <a:solidFill>
            <a:srgbClr val="0D0F17"/>
          </a:solidFill>
          <a:ln w="12700">
            <a:solidFill>
              <a:srgbClr val="1D2130"/>
            </a:solidFill>
            <a:prstDash val="solid"/>
          </a:ln>
        </p:spPr>
        <p:txBody>
          <a:bodyPr/>
          <a:lstStyle/>
          <a:p>
            <a:endParaRPr lang="en-US"/>
          </a:p>
        </p:txBody>
      </p:sp>
      <p:sp>
        <p:nvSpPr>
          <p:cNvPr id="12" name="Text 10"/>
          <p:cNvSpPr/>
          <p:nvPr/>
        </p:nvSpPr>
        <p:spPr>
          <a:xfrm>
            <a:off x="822960" y="3127248"/>
            <a:ext cx="2834640" cy="365760"/>
          </a:xfrm>
          <a:prstGeom prst="rect">
            <a:avLst/>
          </a:prstGeom>
          <a:noFill/>
          <a:ln/>
        </p:spPr>
        <p:txBody>
          <a:bodyPr wrap="square" rtlCol="0" anchor="ctr"/>
          <a:lstStyle/>
          <a:p>
            <a:pPr marL="0" indent="0">
              <a:buNone/>
            </a:pPr>
            <a:r>
              <a:rPr lang="en-US" sz="1400" b="1" dirty="0">
                <a:solidFill>
                  <a:srgbClr val="FF007F"/>
                </a:solidFill>
                <a:latin typeface="Arial" pitchFamily="34" charset="0"/>
                <a:ea typeface="Arial" pitchFamily="34" charset="-122"/>
                <a:cs typeface="Arial" pitchFamily="34" charset="-120"/>
              </a:rPr>
              <a:t>Hit Success Rate</a:t>
            </a:r>
            <a:endParaRPr lang="en-US" sz="1400" dirty="0"/>
          </a:p>
        </p:txBody>
      </p:sp>
      <p:sp>
        <p:nvSpPr>
          <p:cNvPr id="13" name="Text 11"/>
          <p:cNvSpPr/>
          <p:nvPr/>
        </p:nvSpPr>
        <p:spPr>
          <a:xfrm>
            <a:off x="822960" y="3493008"/>
            <a:ext cx="6217920" cy="685800"/>
          </a:xfrm>
          <a:prstGeom prst="rect">
            <a:avLst/>
          </a:prstGeom>
          <a:noFill/>
          <a:ln/>
        </p:spPr>
        <p:txBody>
          <a:bodyPr wrap="square" rtlCol="0" anchor="t"/>
          <a:lstStyle/>
          <a:p>
            <a:pPr marL="0" indent="0">
              <a:buNone/>
            </a:pPr>
            <a:r>
              <a:rPr lang="en-US" sz="1050" dirty="0">
                <a:solidFill>
                  <a:srgbClr val="00F0FF"/>
                </a:solidFill>
                <a:latin typeface="Courier New" pitchFamily="34" charset="0"/>
                <a:ea typeface="Courier New" pitchFamily="34" charset="-122"/>
                <a:cs typeface="Courier New" pitchFamily="34" charset="-120"/>
              </a:rPr>
              <a:t>Million_Seller_Percentage =</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DIVIDE(</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[Million_Seller_Games_Count],</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[Total_Games])</a:t>
            </a:r>
            <a:endParaRPr lang="en-US" sz="1050" dirty="0"/>
          </a:p>
        </p:txBody>
      </p:sp>
      <p:sp>
        <p:nvSpPr>
          <p:cNvPr id="14" name="Text 12"/>
          <p:cNvSpPr/>
          <p:nvPr/>
        </p:nvSpPr>
        <p:spPr>
          <a:xfrm>
            <a:off x="7315200" y="3154680"/>
            <a:ext cx="4114800" cy="228600"/>
          </a:xfrm>
          <a:prstGeom prst="rect">
            <a:avLst/>
          </a:prstGeom>
          <a:noFill/>
          <a:ln/>
        </p:spPr>
        <p:txBody>
          <a:bodyPr wrap="square" rtlCol="0" anchor="ctr"/>
          <a:lstStyle/>
          <a:p>
            <a:pPr marL="0" indent="0">
              <a:buNone/>
            </a:pPr>
            <a:r>
              <a:rPr lang="en-US" sz="950" b="1" kern="0" spc="100" dirty="0">
                <a:solidFill>
                  <a:srgbClr val="8B93A8"/>
                </a:solidFill>
                <a:latin typeface="Calibri" pitchFamily="34" charset="0"/>
                <a:ea typeface="Calibri" pitchFamily="34" charset="-122"/>
                <a:cs typeface="Calibri" pitchFamily="34" charset="-120"/>
              </a:rPr>
              <a:t>STRATEGIC USE</a:t>
            </a:r>
            <a:endParaRPr lang="en-US" sz="950" dirty="0"/>
          </a:p>
        </p:txBody>
      </p:sp>
      <p:sp>
        <p:nvSpPr>
          <p:cNvPr id="15" name="Text 13"/>
          <p:cNvSpPr/>
          <p:nvPr/>
        </p:nvSpPr>
        <p:spPr>
          <a:xfrm>
            <a:off x="7315200" y="3419856"/>
            <a:ext cx="4114800"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Computes exact hit probability (13.53%) over 40 years.</a:t>
            </a:r>
            <a:endParaRPr lang="en-US" sz="1200" dirty="0"/>
          </a:p>
        </p:txBody>
      </p:sp>
      <p:sp>
        <p:nvSpPr>
          <p:cNvPr id="16" name="Shape 14"/>
          <p:cNvSpPr/>
          <p:nvPr/>
        </p:nvSpPr>
        <p:spPr>
          <a:xfrm>
            <a:off x="548640" y="4471416"/>
            <a:ext cx="11091672" cy="1783080"/>
          </a:xfrm>
          <a:prstGeom prst="roundRect">
            <a:avLst>
              <a:gd name="adj" fmla="val 4103"/>
            </a:avLst>
          </a:prstGeom>
          <a:solidFill>
            <a:srgbClr val="0D0F17"/>
          </a:solidFill>
          <a:ln w="12700">
            <a:solidFill>
              <a:srgbClr val="1D2130"/>
            </a:solidFill>
            <a:prstDash val="solid"/>
          </a:ln>
        </p:spPr>
        <p:txBody>
          <a:bodyPr/>
          <a:lstStyle/>
          <a:p>
            <a:endParaRPr lang="en-US"/>
          </a:p>
        </p:txBody>
      </p:sp>
      <p:sp>
        <p:nvSpPr>
          <p:cNvPr id="17" name="Text 15"/>
          <p:cNvSpPr/>
          <p:nvPr/>
        </p:nvSpPr>
        <p:spPr>
          <a:xfrm>
            <a:off x="822960" y="4562856"/>
            <a:ext cx="2834640" cy="365760"/>
          </a:xfrm>
          <a:prstGeom prst="rect">
            <a:avLst/>
          </a:prstGeom>
          <a:noFill/>
          <a:ln/>
        </p:spPr>
        <p:txBody>
          <a:bodyPr wrap="square" rtlCol="0" anchor="ctr"/>
          <a:lstStyle/>
          <a:p>
            <a:r>
              <a:rPr lang="en-US" sz="1400" b="1" dirty="0">
                <a:solidFill>
                  <a:srgbClr val="FF007F"/>
                </a:solidFill>
                <a:latin typeface="Arial" pitchFamily="34" charset="0"/>
                <a:ea typeface="Arial" pitchFamily="34" charset="-122"/>
                <a:cs typeface="Arial" pitchFamily="34" charset="-120"/>
              </a:rPr>
              <a:t>Top</a:t>
            </a:r>
            <a:r>
              <a:rPr lang="ar-EG" sz="1400" b="1" dirty="0">
                <a:solidFill>
                  <a:srgbClr val="FF007F"/>
                </a:solidFill>
                <a:latin typeface="Arial" pitchFamily="34" charset="0"/>
                <a:ea typeface="Arial" pitchFamily="34" charset="-122"/>
                <a:cs typeface="Arial" pitchFamily="34" charset="-120"/>
              </a:rPr>
              <a:t> </a:t>
            </a:r>
            <a:r>
              <a:rPr lang="en-US" sz="1400" b="1" dirty="0">
                <a:solidFill>
                  <a:srgbClr val="FF007F"/>
                </a:solidFill>
                <a:latin typeface="Arial" pitchFamily="34" charset="0"/>
                <a:ea typeface="Arial" pitchFamily="34" charset="-122"/>
                <a:cs typeface="Arial" pitchFamily="34" charset="-120"/>
              </a:rPr>
              <a:t>Publisher</a:t>
            </a:r>
            <a:endParaRPr lang="en-US" sz="1400" dirty="0"/>
          </a:p>
        </p:txBody>
      </p:sp>
      <p:sp>
        <p:nvSpPr>
          <p:cNvPr id="18" name="Text 16"/>
          <p:cNvSpPr/>
          <p:nvPr/>
        </p:nvSpPr>
        <p:spPr>
          <a:xfrm>
            <a:off x="822960" y="4928616"/>
            <a:ext cx="6217920" cy="1234440"/>
          </a:xfrm>
          <a:prstGeom prst="rect">
            <a:avLst/>
          </a:prstGeom>
          <a:noFill/>
          <a:ln/>
        </p:spPr>
        <p:txBody>
          <a:bodyPr wrap="square" rtlCol="0" anchor="t"/>
          <a:lstStyle/>
          <a:p>
            <a:pPr marL="0" indent="0">
              <a:buNone/>
            </a:pPr>
            <a:r>
              <a:rPr lang="en-US" sz="1050" dirty="0">
                <a:solidFill>
                  <a:srgbClr val="00F0FF"/>
                </a:solidFill>
                <a:latin typeface="Courier New" pitchFamily="34" charset="0"/>
                <a:ea typeface="Courier New" pitchFamily="34" charset="-122"/>
                <a:cs typeface="Courier New" pitchFamily="34" charset="-120"/>
              </a:rPr>
              <a:t>Top_Publisher_Million_Sellers =</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VAR t = ADDCOLUMNS(</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VALUES(Dim_Publishers[Publisher]),</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"MS", [Publisher_Million_Sellers])</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VAR Top1 = TOPN(1, t, [MS], DESC)</a:t>
            </a:r>
            <a:endParaRPr lang="en-US" sz="1050" dirty="0"/>
          </a:p>
          <a:p>
            <a:pPr marL="0" indent="0">
              <a:buNone/>
            </a:pPr>
            <a:r>
              <a:rPr lang="en-US" sz="1050" dirty="0">
                <a:solidFill>
                  <a:srgbClr val="00F0FF"/>
                </a:solidFill>
                <a:latin typeface="Courier New" pitchFamily="34" charset="0"/>
                <a:ea typeface="Courier New" pitchFamily="34" charset="-122"/>
                <a:cs typeface="Courier New" pitchFamily="34" charset="-120"/>
              </a:rPr>
              <a:t>  RETURN MAXX(Top1, Dim_Publishers[Publisher])</a:t>
            </a:r>
            <a:endParaRPr lang="en-US" sz="1050" dirty="0"/>
          </a:p>
        </p:txBody>
      </p:sp>
      <p:sp>
        <p:nvSpPr>
          <p:cNvPr id="19" name="Text 17"/>
          <p:cNvSpPr/>
          <p:nvPr/>
        </p:nvSpPr>
        <p:spPr>
          <a:xfrm>
            <a:off x="7315200" y="4590288"/>
            <a:ext cx="4114800" cy="228600"/>
          </a:xfrm>
          <a:prstGeom prst="rect">
            <a:avLst/>
          </a:prstGeom>
          <a:noFill/>
          <a:ln/>
        </p:spPr>
        <p:txBody>
          <a:bodyPr wrap="square" rtlCol="0" anchor="ctr"/>
          <a:lstStyle/>
          <a:p>
            <a:pPr marL="0" indent="0">
              <a:buNone/>
            </a:pPr>
            <a:r>
              <a:rPr lang="en-US" sz="950" b="1" kern="0" spc="100" dirty="0">
                <a:solidFill>
                  <a:srgbClr val="8B93A8"/>
                </a:solidFill>
                <a:latin typeface="Calibri" pitchFamily="34" charset="0"/>
                <a:ea typeface="Calibri" pitchFamily="34" charset="-122"/>
                <a:cs typeface="Calibri" pitchFamily="34" charset="-120"/>
              </a:rPr>
              <a:t>STRATEGIC USE</a:t>
            </a:r>
            <a:endParaRPr lang="en-US" sz="950" dirty="0"/>
          </a:p>
        </p:txBody>
      </p:sp>
      <p:sp>
        <p:nvSpPr>
          <p:cNvPr id="20" name="Text 18"/>
          <p:cNvSpPr/>
          <p:nvPr/>
        </p:nvSpPr>
        <p:spPr>
          <a:xfrm>
            <a:off x="7315200" y="4855464"/>
            <a:ext cx="4114800" cy="128016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Dynamically isolates top-performing entities upon slicing.</a:t>
            </a:r>
            <a:endParaRPr lang="en-US" sz="1200" dirty="0"/>
          </a:p>
        </p:txBody>
      </p:sp>
      <p:sp>
        <p:nvSpPr>
          <p:cNvPr id="21" name="Text 19"/>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08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B10"/>
        </a:solidFill>
        <a:effectLst/>
      </p:bgPr>
    </p:bg>
    <p:spTree>
      <p:nvGrpSpPr>
        <p:cNvPr id="1" name=""/>
        <p:cNvGrpSpPr/>
        <p:nvPr/>
      </p:nvGrpSpPr>
      <p:grpSpPr>
        <a:xfrm>
          <a:off x="0" y="0"/>
          <a:ext cx="0" cy="0"/>
          <a:chOff x="0" y="0"/>
          <a:chExt cx="0" cy="0"/>
        </a:xfrm>
      </p:grpSpPr>
      <p:sp>
        <p:nvSpPr>
          <p:cNvPr id="26" name="Shape 4">
            <a:extLst>
              <a:ext uri="{FF2B5EF4-FFF2-40B4-BE49-F238E27FC236}">
                <a16:creationId xmlns:a16="http://schemas.microsoft.com/office/drawing/2014/main" id="{5C603E47-00BC-A53F-D14C-421857F0B4AC}"/>
              </a:ext>
            </a:extLst>
          </p:cNvPr>
          <p:cNvSpPr/>
          <p:nvPr/>
        </p:nvSpPr>
        <p:spPr>
          <a:xfrm>
            <a:off x="6094476" y="1609344"/>
            <a:ext cx="5394960" cy="4763654"/>
          </a:xfrm>
          <a:prstGeom prst="roundRect">
            <a:avLst>
              <a:gd name="adj" fmla="val 1649"/>
            </a:avLst>
          </a:prstGeom>
          <a:solidFill>
            <a:srgbClr val="171A26"/>
          </a:solidFill>
          <a:ln w="12700">
            <a:solidFill>
              <a:srgbClr val="00F0FF"/>
            </a:solidFill>
            <a:prstDash val="solid"/>
          </a:ln>
        </p:spPr>
        <p:txBody>
          <a:bodyPr/>
          <a:lstStyle/>
          <a:p>
            <a:endParaRPr lang="en-US"/>
          </a:p>
        </p:txBody>
      </p:sp>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STEP 4 — MOHAMED MAGDY</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r>
              <a:rPr lang="en-US" sz="3200" b="1" dirty="0">
                <a:solidFill>
                  <a:schemeClr val="bg1"/>
                </a:solidFill>
              </a:rPr>
              <a:t>Dashboard Interface &amp; User Experience</a:t>
            </a:r>
            <a:endParaRPr lang="en-US" sz="3000" dirty="0">
              <a:solidFill>
                <a:schemeClr val="bg1"/>
              </a:solidFill>
            </a:endParaRPr>
          </a:p>
        </p:txBody>
      </p:sp>
      <p:sp>
        <p:nvSpPr>
          <p:cNvPr id="6" name="Shape 4"/>
          <p:cNvSpPr/>
          <p:nvPr/>
        </p:nvSpPr>
        <p:spPr>
          <a:xfrm>
            <a:off x="548640" y="1600200"/>
            <a:ext cx="5394960" cy="4763654"/>
          </a:xfrm>
          <a:prstGeom prst="roundRect">
            <a:avLst>
              <a:gd name="adj" fmla="val 1649"/>
            </a:avLst>
          </a:prstGeom>
          <a:solidFill>
            <a:srgbClr val="171A26"/>
          </a:solidFill>
          <a:ln w="12700">
            <a:solidFill>
              <a:srgbClr val="00F0FF"/>
            </a:solidFill>
            <a:prstDash val="solid"/>
          </a:ln>
        </p:spPr>
        <p:txBody>
          <a:bodyPr/>
          <a:lstStyle/>
          <a:p>
            <a:endParaRPr lang="en-US"/>
          </a:p>
        </p:txBody>
      </p:sp>
      <p:sp>
        <p:nvSpPr>
          <p:cNvPr id="7" name="Text 5"/>
          <p:cNvSpPr/>
          <p:nvPr/>
        </p:nvSpPr>
        <p:spPr>
          <a:xfrm>
            <a:off x="868680" y="1783080"/>
            <a:ext cx="4754880" cy="274320"/>
          </a:xfrm>
          <a:prstGeom prst="rect">
            <a:avLst/>
          </a:prstGeom>
          <a:noFill/>
          <a:ln/>
        </p:spPr>
        <p:txBody>
          <a:bodyPr wrap="square" rtlCol="0" anchor="ctr"/>
          <a:lstStyle/>
          <a:p>
            <a:r>
              <a:rPr lang="en-US" sz="1200" b="1" kern="0" spc="100" dirty="0">
                <a:solidFill>
                  <a:srgbClr val="00F0FF"/>
                </a:solidFill>
                <a:latin typeface="Calibri" pitchFamily="34" charset="0"/>
                <a:ea typeface="Calibri" pitchFamily="34" charset="-122"/>
                <a:cs typeface="Calibri" pitchFamily="34" charset="-120"/>
              </a:rPr>
              <a:t>DASHBOARD FEATURES</a:t>
            </a:r>
            <a:endParaRPr lang="en-US" sz="1200" dirty="0"/>
          </a:p>
        </p:txBody>
      </p:sp>
      <p:sp>
        <p:nvSpPr>
          <p:cNvPr id="8" name="Text 6"/>
          <p:cNvSpPr/>
          <p:nvPr/>
        </p:nvSpPr>
        <p:spPr>
          <a:xfrm>
            <a:off x="868680" y="2103120"/>
            <a:ext cx="4754880" cy="1920240"/>
          </a:xfrm>
          <a:prstGeom prst="rect">
            <a:avLst/>
          </a:prstGeom>
          <a:noFill/>
          <a:ln/>
        </p:spPr>
        <p:txBody>
          <a:bodyPr wrap="square" rtlCol="0" anchor="ctr"/>
          <a:lstStyle/>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Adopted a dark gaming-inspired theme to match the project domain.</a:t>
            </a:r>
            <a:endParaRPr lang="ar-EG" sz="1250" dirty="0">
              <a:solidFill>
                <a:srgbClr val="FFFFFF"/>
              </a:solidFill>
              <a:latin typeface="Calibri" pitchFamily="34" charset="0"/>
              <a:ea typeface="Calibri" pitchFamily="34" charset="-122"/>
              <a:cs typeface="Calibri" pitchFamily="34" charset="-120"/>
            </a:endParaRPr>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Designed a consistent layout across all dashboard pages.</a:t>
            </a:r>
            <a:endParaRPr lang="ar-EG" sz="1250" dirty="0">
              <a:solidFill>
                <a:srgbClr val="FFFFFF"/>
              </a:solidFill>
              <a:latin typeface="Calibri" pitchFamily="34" charset="0"/>
              <a:ea typeface="Calibri" pitchFamily="34" charset="-122"/>
              <a:cs typeface="Calibri" pitchFamily="34" charset="-120"/>
            </a:endParaRPr>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Used KPI cards to highlight the most important business metrics.</a:t>
            </a:r>
            <a:endParaRPr lang="ar-EG" sz="1250" dirty="0">
              <a:solidFill>
                <a:srgbClr val="FFFFFF"/>
              </a:solidFill>
              <a:latin typeface="Calibri" pitchFamily="34" charset="0"/>
              <a:ea typeface="Calibri" pitchFamily="34" charset="-122"/>
              <a:cs typeface="Calibri" pitchFamily="34" charset="-120"/>
            </a:endParaRPr>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Applied interactive slicers and cross-filtering for dynamic analysis.</a:t>
            </a:r>
            <a:endParaRPr lang="en-US" sz="1250" dirty="0"/>
          </a:p>
        </p:txBody>
      </p:sp>
      <p:sp>
        <p:nvSpPr>
          <p:cNvPr id="9" name="Shape 7"/>
          <p:cNvSpPr/>
          <p:nvPr/>
        </p:nvSpPr>
        <p:spPr>
          <a:xfrm>
            <a:off x="868680" y="4069080"/>
            <a:ext cx="4754880" cy="0"/>
          </a:xfrm>
          <a:prstGeom prst="line">
            <a:avLst/>
          </a:prstGeom>
          <a:noFill/>
          <a:ln w="12700">
            <a:solidFill>
              <a:srgbClr val="1D2130"/>
            </a:solidFill>
            <a:prstDash val="solid"/>
          </a:ln>
        </p:spPr>
        <p:txBody>
          <a:bodyPr/>
          <a:lstStyle/>
          <a:p>
            <a:endParaRPr lang="en-US"/>
          </a:p>
        </p:txBody>
      </p:sp>
      <p:sp>
        <p:nvSpPr>
          <p:cNvPr id="10" name="Text 8"/>
          <p:cNvSpPr/>
          <p:nvPr/>
        </p:nvSpPr>
        <p:spPr>
          <a:xfrm>
            <a:off x="868680" y="4069080"/>
            <a:ext cx="4754880" cy="274320"/>
          </a:xfrm>
          <a:prstGeom prst="rect">
            <a:avLst/>
          </a:prstGeom>
          <a:noFill/>
          <a:ln/>
        </p:spPr>
        <p:txBody>
          <a:bodyPr wrap="square" rtlCol="0" anchor="ctr"/>
          <a:lstStyle/>
          <a:p>
            <a:r>
              <a:rPr lang="en-US" sz="1200" b="1" kern="0" spc="100" dirty="0">
                <a:solidFill>
                  <a:srgbClr val="FF007F"/>
                </a:solidFill>
                <a:latin typeface="Calibri" pitchFamily="34" charset="0"/>
                <a:cs typeface="Calibri" pitchFamily="34" charset="-120"/>
              </a:rPr>
              <a:t>DASHBOARD</a:t>
            </a:r>
            <a:r>
              <a:rPr lang="en-US" sz="1200" dirty="0"/>
              <a:t> </a:t>
            </a:r>
            <a:r>
              <a:rPr lang="en-US" sz="1200" b="1" kern="0" spc="100" dirty="0">
                <a:solidFill>
                  <a:srgbClr val="FF007F"/>
                </a:solidFill>
                <a:latin typeface="Calibri" pitchFamily="34" charset="0"/>
                <a:cs typeface="Calibri" pitchFamily="34" charset="-120"/>
              </a:rPr>
              <a:t>CAPABILITIES</a:t>
            </a:r>
          </a:p>
        </p:txBody>
      </p:sp>
      <p:sp>
        <p:nvSpPr>
          <p:cNvPr id="11" name="Text 9"/>
          <p:cNvSpPr/>
          <p:nvPr/>
        </p:nvSpPr>
        <p:spPr>
          <a:xfrm>
            <a:off x="868680" y="4389120"/>
            <a:ext cx="4754880" cy="1463040"/>
          </a:xfrm>
          <a:prstGeom prst="rect">
            <a:avLst/>
          </a:prstGeom>
          <a:noFill/>
          <a:ln/>
        </p:spPr>
        <p:txBody>
          <a:bodyPr wrap="square" rtlCol="0" anchor="ctr"/>
          <a:lstStyle/>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Interactive navigation between report pages.</a:t>
            </a:r>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Dynamic filtering across all visuals.</a:t>
            </a:r>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Clear visual hierarchy for faster insight discovery.</a:t>
            </a:r>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Business-focused layout that supports decision making.</a:t>
            </a:r>
            <a:endParaRPr lang="en-US" sz="1250" dirty="0"/>
          </a:p>
        </p:txBody>
      </p:sp>
      <p:sp>
        <p:nvSpPr>
          <p:cNvPr id="13" name="Text 11"/>
          <p:cNvSpPr/>
          <p:nvPr/>
        </p:nvSpPr>
        <p:spPr>
          <a:xfrm>
            <a:off x="6537960" y="1783080"/>
            <a:ext cx="4754880" cy="274320"/>
          </a:xfrm>
          <a:prstGeom prst="rect">
            <a:avLst/>
          </a:prstGeom>
          <a:noFill/>
          <a:ln/>
        </p:spPr>
        <p:txBody>
          <a:bodyPr wrap="square" rtlCol="0" anchor="ctr"/>
          <a:lstStyle/>
          <a:p>
            <a:r>
              <a:rPr lang="en-US" sz="1200" b="1" dirty="0">
                <a:solidFill>
                  <a:schemeClr val="tx1">
                    <a:lumMod val="50000"/>
                    <a:lumOff val="50000"/>
                  </a:schemeClr>
                </a:solidFill>
              </a:rPr>
              <a:t>DASHBOARD LANDING PAGE</a:t>
            </a:r>
            <a:endParaRPr lang="en-US" sz="1200" dirty="0">
              <a:solidFill>
                <a:schemeClr val="tx1">
                  <a:lumMod val="50000"/>
                  <a:lumOff val="50000"/>
                </a:schemeClr>
              </a:solidFill>
            </a:endParaRPr>
          </a:p>
        </p:txBody>
      </p:sp>
      <p:sp>
        <p:nvSpPr>
          <p:cNvPr id="23" name="Text 21"/>
          <p:cNvSpPr/>
          <p:nvPr/>
        </p:nvSpPr>
        <p:spPr>
          <a:xfrm>
            <a:off x="6477000" y="5550038"/>
            <a:ext cx="4846320" cy="822960"/>
          </a:xfrm>
          <a:prstGeom prst="rect">
            <a:avLst/>
          </a:prstGeom>
          <a:noFill/>
          <a:ln/>
        </p:spPr>
        <p:txBody>
          <a:bodyPr wrap="square" rtlCol="0" anchor="ctr"/>
          <a:lstStyle/>
          <a:p>
            <a:r>
              <a:rPr lang="en-US" sz="1150" i="1" dirty="0">
                <a:solidFill>
                  <a:srgbClr val="00F0FF"/>
                </a:solidFill>
                <a:latin typeface="Calibri" pitchFamily="34" charset="0"/>
                <a:ea typeface="Calibri" pitchFamily="34" charset="-122"/>
                <a:cs typeface="Calibri" pitchFamily="34" charset="-120"/>
              </a:rPr>
              <a:t>Design Goal: Create an interactive dashboard that transforms historical gaming data into clear, actionable business insights.</a:t>
            </a:r>
            <a:endParaRPr lang="en-US" sz="1150" dirty="0"/>
          </a:p>
        </p:txBody>
      </p:sp>
      <p:sp>
        <p:nvSpPr>
          <p:cNvPr id="24" name="Text 22"/>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09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pic>
        <p:nvPicPr>
          <p:cNvPr id="30" name="Picture 29">
            <a:extLst>
              <a:ext uri="{FF2B5EF4-FFF2-40B4-BE49-F238E27FC236}">
                <a16:creationId xmlns:a16="http://schemas.microsoft.com/office/drawing/2014/main" id="{3DB220D9-6365-8AE3-5BD0-9ACCED4A7200}"/>
              </a:ext>
            </a:extLst>
          </p:cNvPr>
          <p:cNvPicPr>
            <a:picLocks noChangeAspect="1"/>
          </p:cNvPicPr>
          <p:nvPr/>
        </p:nvPicPr>
        <p:blipFill>
          <a:blip r:embed="rId3"/>
          <a:stretch>
            <a:fillRect/>
          </a:stretch>
        </p:blipFill>
        <p:spPr>
          <a:xfrm>
            <a:off x="6222748" y="2103120"/>
            <a:ext cx="5138415" cy="35957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LIVE DEMO — SCREEN 1</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r>
              <a:rPr lang="en-US" sz="3200" b="1" dirty="0">
                <a:solidFill>
                  <a:schemeClr val="bg1"/>
                </a:solidFill>
              </a:rPr>
              <a:t>Global Market Overview</a:t>
            </a:r>
            <a:endParaRPr lang="en-US" sz="3000" dirty="0">
              <a:solidFill>
                <a:schemeClr val="bg1"/>
              </a:solidFill>
            </a:endParaRPr>
          </a:p>
        </p:txBody>
      </p:sp>
      <p:sp>
        <p:nvSpPr>
          <p:cNvPr id="6" name="Shape 4"/>
          <p:cNvSpPr/>
          <p:nvPr/>
        </p:nvSpPr>
        <p:spPr>
          <a:xfrm>
            <a:off x="7453744" y="1600200"/>
            <a:ext cx="4186567" cy="2267712"/>
          </a:xfrm>
          <a:prstGeom prst="roundRect">
            <a:avLst>
              <a:gd name="adj" fmla="val 3478"/>
            </a:avLst>
          </a:prstGeom>
          <a:solidFill>
            <a:srgbClr val="13151F"/>
          </a:solidFill>
          <a:ln w="12700">
            <a:solidFill>
              <a:srgbClr val="00F0FF"/>
            </a:solidFill>
            <a:prstDash val="solid"/>
          </a:ln>
        </p:spPr>
        <p:txBody>
          <a:bodyPr/>
          <a:lstStyle/>
          <a:p>
            <a:endParaRPr lang="en-US"/>
          </a:p>
        </p:txBody>
      </p:sp>
      <p:sp>
        <p:nvSpPr>
          <p:cNvPr id="7" name="Text 5"/>
          <p:cNvSpPr/>
          <p:nvPr/>
        </p:nvSpPr>
        <p:spPr>
          <a:xfrm>
            <a:off x="7453744" y="1764792"/>
            <a:ext cx="3839096" cy="274320"/>
          </a:xfrm>
          <a:prstGeom prst="rect">
            <a:avLst/>
          </a:prstGeom>
          <a:noFill/>
          <a:ln/>
        </p:spPr>
        <p:txBody>
          <a:bodyPr wrap="square" rtlCol="0" anchor="ctr"/>
          <a:lstStyle/>
          <a:p>
            <a:pPr marL="0" indent="0">
              <a:buNone/>
            </a:pPr>
            <a:r>
              <a:rPr lang="en-US" sz="1200" b="1" kern="0" spc="100" dirty="0">
                <a:solidFill>
                  <a:srgbClr val="00F0FF"/>
                </a:solidFill>
                <a:latin typeface="Calibri" pitchFamily="34" charset="0"/>
                <a:ea typeface="Calibri" pitchFamily="34" charset="-122"/>
                <a:cs typeface="Calibri" pitchFamily="34" charset="-120"/>
              </a:rPr>
              <a:t>ANSWERING Q1 — REGIONAL DOMINANCE</a:t>
            </a:r>
            <a:endParaRPr lang="en-US" sz="1200" dirty="0"/>
          </a:p>
        </p:txBody>
      </p:sp>
      <p:sp>
        <p:nvSpPr>
          <p:cNvPr id="8" name="Text 6"/>
          <p:cNvSpPr/>
          <p:nvPr/>
        </p:nvSpPr>
        <p:spPr>
          <a:xfrm>
            <a:off x="7555344" y="2029968"/>
            <a:ext cx="1521044" cy="1005840"/>
          </a:xfrm>
          <a:prstGeom prst="rect">
            <a:avLst/>
          </a:prstGeom>
          <a:noFill/>
          <a:ln/>
        </p:spPr>
        <p:txBody>
          <a:bodyPr wrap="square" rtlCol="0" anchor="ctr"/>
          <a:lstStyle/>
          <a:p>
            <a:pPr marL="0" indent="0">
              <a:buNone/>
            </a:pPr>
            <a:r>
              <a:rPr lang="en-US" sz="5200" b="1" dirty="0">
                <a:solidFill>
                  <a:srgbClr val="FF007F"/>
                </a:solidFill>
                <a:latin typeface="Arial" pitchFamily="34" charset="0"/>
                <a:ea typeface="Arial" pitchFamily="34" charset="-122"/>
                <a:cs typeface="Arial" pitchFamily="34" charset="-120"/>
              </a:rPr>
              <a:t>49%</a:t>
            </a:r>
            <a:endParaRPr lang="en-US" sz="5200" dirty="0"/>
          </a:p>
        </p:txBody>
      </p:sp>
      <p:sp>
        <p:nvSpPr>
          <p:cNvPr id="9" name="Text 7"/>
          <p:cNvSpPr/>
          <p:nvPr/>
        </p:nvSpPr>
        <p:spPr>
          <a:xfrm>
            <a:off x="8931564" y="2148840"/>
            <a:ext cx="2623127" cy="16459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North America (NA) stands as the absolute economic locomotive, capturing 49% (4.3B USD) of the global historical footprint.</a:t>
            </a:r>
            <a:endParaRPr lang="en-US" sz="1400" dirty="0"/>
          </a:p>
        </p:txBody>
      </p:sp>
      <p:sp>
        <p:nvSpPr>
          <p:cNvPr id="10" name="Shape 8"/>
          <p:cNvSpPr/>
          <p:nvPr/>
        </p:nvSpPr>
        <p:spPr>
          <a:xfrm>
            <a:off x="7453744" y="3886200"/>
            <a:ext cx="4186568" cy="2459736"/>
          </a:xfrm>
          <a:prstGeom prst="roundRect">
            <a:avLst>
              <a:gd name="adj" fmla="val 3404"/>
            </a:avLst>
          </a:prstGeom>
          <a:solidFill>
            <a:srgbClr val="171A26"/>
          </a:solidFill>
          <a:ln w="12700">
            <a:solidFill>
              <a:srgbClr val="00F0FF"/>
            </a:solidFill>
            <a:prstDash val="solid"/>
          </a:ln>
        </p:spPr>
        <p:txBody>
          <a:bodyPr/>
          <a:lstStyle/>
          <a:p>
            <a:endParaRPr lang="en-US"/>
          </a:p>
        </p:txBody>
      </p:sp>
      <p:sp>
        <p:nvSpPr>
          <p:cNvPr id="11" name="Text 9"/>
          <p:cNvSpPr/>
          <p:nvPr/>
        </p:nvSpPr>
        <p:spPr>
          <a:xfrm>
            <a:off x="7453744" y="4050792"/>
            <a:ext cx="3839096" cy="274320"/>
          </a:xfrm>
          <a:prstGeom prst="rect">
            <a:avLst/>
          </a:prstGeom>
          <a:noFill/>
          <a:ln/>
        </p:spPr>
        <p:txBody>
          <a:bodyPr wrap="square" rtlCol="0" anchor="ctr"/>
          <a:lstStyle/>
          <a:p>
            <a:pPr marL="0" indent="0">
              <a:buNone/>
            </a:pPr>
            <a:r>
              <a:rPr lang="en-US" sz="1200" b="1" kern="0" spc="100" dirty="0">
                <a:solidFill>
                  <a:srgbClr val="FF007F"/>
                </a:solidFill>
                <a:latin typeface="Calibri" pitchFamily="34" charset="0"/>
                <a:ea typeface="Calibri" pitchFamily="34" charset="-122"/>
                <a:cs typeface="Calibri" pitchFamily="34" charset="-120"/>
              </a:rPr>
              <a:t>ANSWERING Q2 — PORTFOLIO SAFETY &amp; TIMING</a:t>
            </a:r>
            <a:endParaRPr lang="en-US" sz="1200" dirty="0"/>
          </a:p>
        </p:txBody>
      </p:sp>
      <p:sp>
        <p:nvSpPr>
          <p:cNvPr id="12" name="Text 10"/>
          <p:cNvSpPr/>
          <p:nvPr/>
        </p:nvSpPr>
        <p:spPr>
          <a:xfrm>
            <a:off x="7555344" y="4389120"/>
            <a:ext cx="3999347" cy="1874520"/>
          </a:xfrm>
          <a:prstGeom prst="rect">
            <a:avLst/>
          </a:prstGeom>
          <a:noFill/>
          <a:ln/>
        </p:spPr>
        <p:txBody>
          <a:bodyPr wrap="square" rtlCol="0" anchor="ctr"/>
          <a:lstStyle/>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Action ($1.72B) and Sports ($1.31B) combine to yield over $3.0B USD, proving the historically safest investments.
</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Temporal trends confirm the massive exponential explosion of global gaming sales occurred at the turn of the 2000s decade.</a:t>
            </a:r>
            <a:endParaRPr lang="en-US" sz="1350" dirty="0"/>
          </a:p>
        </p:txBody>
      </p:sp>
      <p:sp>
        <p:nvSpPr>
          <p:cNvPr id="13" name="Text 11"/>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10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pic>
        <p:nvPicPr>
          <p:cNvPr id="15" name="Picture 14">
            <a:extLst>
              <a:ext uri="{FF2B5EF4-FFF2-40B4-BE49-F238E27FC236}">
                <a16:creationId xmlns:a16="http://schemas.microsoft.com/office/drawing/2014/main" id="{1318E464-9514-74C9-92F6-F21827DA10FF}"/>
              </a:ext>
            </a:extLst>
          </p:cNvPr>
          <p:cNvPicPr>
            <a:picLocks noChangeAspect="1"/>
          </p:cNvPicPr>
          <p:nvPr/>
        </p:nvPicPr>
        <p:blipFill>
          <a:blip r:embed="rId3"/>
          <a:stretch>
            <a:fillRect/>
          </a:stretch>
        </p:blipFill>
        <p:spPr>
          <a:xfrm>
            <a:off x="77290" y="1570962"/>
            <a:ext cx="7315201" cy="48847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LIVE DEMO — SCREEN 2</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Platform Longevity &amp; Hardware Performance</a:t>
            </a:r>
            <a:endParaRPr lang="en-US" sz="3000" dirty="0"/>
          </a:p>
        </p:txBody>
      </p:sp>
      <p:sp>
        <p:nvSpPr>
          <p:cNvPr id="6" name="Shape 4"/>
          <p:cNvSpPr/>
          <p:nvPr/>
        </p:nvSpPr>
        <p:spPr>
          <a:xfrm>
            <a:off x="7333672" y="1600200"/>
            <a:ext cx="4715163" cy="3931920"/>
          </a:xfrm>
          <a:prstGeom prst="roundRect">
            <a:avLst>
              <a:gd name="adj" fmla="val 1649"/>
            </a:avLst>
          </a:prstGeom>
          <a:solidFill>
            <a:srgbClr val="13151F"/>
          </a:solidFill>
          <a:ln w="12700">
            <a:solidFill>
              <a:srgbClr val="00F0FF"/>
            </a:solidFill>
            <a:prstDash val="solid"/>
          </a:ln>
        </p:spPr>
        <p:txBody>
          <a:bodyPr/>
          <a:lstStyle/>
          <a:p>
            <a:endParaRPr lang="en-US"/>
          </a:p>
        </p:txBody>
      </p:sp>
      <p:sp>
        <p:nvSpPr>
          <p:cNvPr id="7" name="Text 5"/>
          <p:cNvSpPr/>
          <p:nvPr/>
        </p:nvSpPr>
        <p:spPr>
          <a:xfrm>
            <a:off x="7573058" y="1783080"/>
            <a:ext cx="4155737" cy="243212"/>
          </a:xfrm>
          <a:prstGeom prst="rect">
            <a:avLst/>
          </a:prstGeom>
          <a:noFill/>
          <a:ln/>
        </p:spPr>
        <p:txBody>
          <a:bodyPr wrap="square" rtlCol="0" anchor="ctr"/>
          <a:lstStyle/>
          <a:p>
            <a:pPr marL="0" indent="0">
              <a:buNone/>
            </a:pPr>
            <a:r>
              <a:rPr lang="en-US" sz="1200" b="1" kern="0" spc="100" dirty="0">
                <a:solidFill>
                  <a:srgbClr val="00F0FF"/>
                </a:solidFill>
                <a:latin typeface="Calibri" pitchFamily="34" charset="0"/>
                <a:ea typeface="Calibri" pitchFamily="34" charset="-122"/>
                <a:cs typeface="Calibri" pitchFamily="34" charset="-120"/>
              </a:rPr>
              <a:t>ANSWERING Q3 — CONSOLE LONGEVITY</a:t>
            </a:r>
            <a:endParaRPr lang="en-US" sz="1200" dirty="0"/>
          </a:p>
        </p:txBody>
      </p:sp>
      <p:sp>
        <p:nvSpPr>
          <p:cNvPr id="8" name="Text 6"/>
          <p:cNvSpPr/>
          <p:nvPr/>
        </p:nvSpPr>
        <p:spPr>
          <a:xfrm>
            <a:off x="7573058" y="2103120"/>
            <a:ext cx="4155737" cy="283747"/>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Undisputed Hardware King</a:t>
            </a:r>
            <a:endParaRPr lang="en-US" sz="1500" dirty="0"/>
          </a:p>
        </p:txBody>
      </p:sp>
      <p:sp>
        <p:nvSpPr>
          <p:cNvPr id="9" name="Text 7"/>
          <p:cNvSpPr/>
          <p:nvPr/>
        </p:nvSpPr>
        <p:spPr>
          <a:xfrm>
            <a:off x="7573058" y="2423160"/>
            <a:ext cx="4155737" cy="648564"/>
          </a:xfrm>
          <a:prstGeom prst="rect">
            <a:avLst/>
          </a:prstGeom>
          <a:noFill/>
          <a:ln/>
        </p:spPr>
        <p:txBody>
          <a:bodyPr wrap="square" rtlCol="0" anchor="ctr"/>
          <a:lstStyle/>
          <a:p>
            <a:pPr marL="0" indent="0">
              <a:buNone/>
            </a:pPr>
            <a:r>
              <a:rPr lang="en-US" sz="4000" b="1" dirty="0">
                <a:solidFill>
                  <a:srgbClr val="FF007F"/>
                </a:solidFill>
                <a:latin typeface="Arial" pitchFamily="34" charset="0"/>
                <a:ea typeface="Arial" pitchFamily="34" charset="-122"/>
                <a:cs typeface="Arial" pitchFamily="34" charset="-120"/>
              </a:rPr>
              <a:t>1.23B USD</a:t>
            </a:r>
            <a:endParaRPr lang="en-US" sz="4000" dirty="0"/>
          </a:p>
        </p:txBody>
      </p:sp>
      <p:sp>
        <p:nvSpPr>
          <p:cNvPr id="10" name="Text 8"/>
          <p:cNvSpPr/>
          <p:nvPr/>
        </p:nvSpPr>
        <p:spPr>
          <a:xfrm>
            <a:off x="7573058" y="3154680"/>
            <a:ext cx="4155737" cy="486423"/>
          </a:xfrm>
          <a:prstGeom prst="rect">
            <a:avLst/>
          </a:prstGeom>
          <a:noFill/>
          <a:ln/>
        </p:spPr>
        <p:txBody>
          <a:bodyPr wrap="square" rtlCol="0" anchor="ctr"/>
          <a:lstStyle/>
          <a:p>
            <a:pPr marL="0" indent="0">
              <a:buNone/>
            </a:pPr>
            <a:r>
              <a:rPr lang="en-US" sz="1250" dirty="0">
                <a:solidFill>
                  <a:srgbClr val="8B93A8"/>
                </a:solidFill>
                <a:latin typeface="Calibri" pitchFamily="34" charset="0"/>
                <a:ea typeface="Calibri" pitchFamily="34" charset="-122"/>
                <a:cs typeface="Calibri" pitchFamily="34" charset="-120"/>
              </a:rPr>
              <a:t>Sony PlayStation 2 (PS2) reigns supreme in historical revenue.</a:t>
            </a:r>
            <a:endParaRPr lang="en-US" sz="1250" dirty="0"/>
          </a:p>
        </p:txBody>
      </p:sp>
      <p:sp>
        <p:nvSpPr>
          <p:cNvPr id="11" name="Shape 9"/>
          <p:cNvSpPr/>
          <p:nvPr/>
        </p:nvSpPr>
        <p:spPr>
          <a:xfrm>
            <a:off x="7573058" y="3794760"/>
            <a:ext cx="4155737" cy="0"/>
          </a:xfrm>
          <a:prstGeom prst="line">
            <a:avLst/>
          </a:prstGeom>
          <a:noFill/>
          <a:ln w="12700">
            <a:solidFill>
              <a:srgbClr val="1D2130"/>
            </a:solidFill>
            <a:prstDash val="solid"/>
          </a:ln>
        </p:spPr>
        <p:txBody>
          <a:bodyPr/>
          <a:lstStyle/>
          <a:p>
            <a:endParaRPr lang="en-US"/>
          </a:p>
        </p:txBody>
      </p:sp>
      <p:sp>
        <p:nvSpPr>
          <p:cNvPr id="12" name="Text 10"/>
          <p:cNvSpPr/>
          <p:nvPr/>
        </p:nvSpPr>
        <p:spPr>
          <a:xfrm>
            <a:off x="7573058" y="3931920"/>
            <a:ext cx="4155737" cy="283747"/>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Lifecycle Benchmarking</a:t>
            </a:r>
            <a:endParaRPr lang="en-US" sz="1500" dirty="0"/>
          </a:p>
        </p:txBody>
      </p:sp>
      <p:sp>
        <p:nvSpPr>
          <p:cNvPr id="13" name="Text 11"/>
          <p:cNvSpPr/>
          <p:nvPr/>
        </p:nvSpPr>
        <p:spPr>
          <a:xfrm>
            <a:off x="7573058" y="4224528"/>
            <a:ext cx="4155737" cy="526958"/>
          </a:xfrm>
          <a:prstGeom prst="rect">
            <a:avLst/>
          </a:prstGeom>
          <a:noFill/>
          <a:ln/>
        </p:spPr>
        <p:txBody>
          <a:bodyPr wrap="square" rtlCol="0" anchor="ctr"/>
          <a:lstStyle/>
          <a:p>
            <a:pPr marL="0" indent="0">
              <a:buNone/>
            </a:pPr>
            <a:r>
              <a:rPr lang="en-US" sz="3200" b="1" dirty="0">
                <a:solidFill>
                  <a:srgbClr val="00F0FF"/>
                </a:solidFill>
                <a:latin typeface="Arial" pitchFamily="34" charset="0"/>
                <a:ea typeface="Arial" pitchFamily="34" charset="-122"/>
                <a:cs typeface="Arial" pitchFamily="34" charset="-120"/>
              </a:rPr>
              <a:t>8.87 yrs</a:t>
            </a:r>
            <a:endParaRPr lang="en-US" sz="3200" dirty="0"/>
          </a:p>
        </p:txBody>
      </p:sp>
      <p:sp>
        <p:nvSpPr>
          <p:cNvPr id="14" name="Text 12"/>
          <p:cNvSpPr/>
          <p:nvPr/>
        </p:nvSpPr>
        <p:spPr>
          <a:xfrm>
            <a:off x="7573058" y="4828032"/>
            <a:ext cx="4155737" cy="486423"/>
          </a:xfrm>
          <a:prstGeom prst="rect">
            <a:avLst/>
          </a:prstGeom>
          <a:noFill/>
          <a:ln/>
        </p:spPr>
        <p:txBody>
          <a:bodyPr wrap="square" rtlCol="0" anchor="ctr"/>
          <a:lstStyle/>
          <a:p>
            <a:pPr marL="0" indent="0">
              <a:buNone/>
            </a:pPr>
            <a:r>
              <a:rPr lang="en-US" sz="1250" dirty="0">
                <a:solidFill>
                  <a:srgbClr val="8B93A8"/>
                </a:solidFill>
                <a:latin typeface="Calibri" pitchFamily="34" charset="0"/>
                <a:ea typeface="Calibri" pitchFamily="34" charset="-122"/>
                <a:cs typeface="Calibri" pitchFamily="34" charset="-120"/>
              </a:rPr>
              <a:t>Analytical modeling reveals the historical average lifespan of gaming hardware.</a:t>
            </a:r>
            <a:endParaRPr lang="en-US" sz="1250" dirty="0"/>
          </a:p>
        </p:txBody>
      </p:sp>
      <p:sp>
        <p:nvSpPr>
          <p:cNvPr id="33" name="Text 31"/>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11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pic>
        <p:nvPicPr>
          <p:cNvPr id="37" name="Picture 36">
            <a:extLst>
              <a:ext uri="{FF2B5EF4-FFF2-40B4-BE49-F238E27FC236}">
                <a16:creationId xmlns:a16="http://schemas.microsoft.com/office/drawing/2014/main" id="{DCB380C4-0254-39C7-6507-778D0FCF2312}"/>
              </a:ext>
            </a:extLst>
          </p:cNvPr>
          <p:cNvPicPr>
            <a:picLocks noChangeAspect="1"/>
          </p:cNvPicPr>
          <p:nvPr/>
        </p:nvPicPr>
        <p:blipFill>
          <a:blip r:embed="rId3"/>
          <a:stretch>
            <a:fillRect/>
          </a:stretch>
        </p:blipFill>
        <p:spPr>
          <a:xfrm>
            <a:off x="143165" y="1600200"/>
            <a:ext cx="7109853" cy="39690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pPr marL="0" indent="0">
              <a:buNone/>
            </a:pPr>
            <a:r>
              <a:rPr lang="en-US" sz="1200" b="1" kern="0" spc="300" dirty="0">
                <a:solidFill>
                  <a:srgbClr val="00F0FF"/>
                </a:solidFill>
                <a:latin typeface="Calibri" pitchFamily="34" charset="0"/>
                <a:ea typeface="Calibri" pitchFamily="34" charset="-122"/>
                <a:cs typeface="Calibri" pitchFamily="34" charset="-120"/>
              </a:rPr>
              <a:t>LIVE DEMO — SCREEN 3</a:t>
            </a:r>
            <a:endParaRPr lang="en-US" sz="1200" dirty="0"/>
          </a:p>
        </p:txBody>
      </p:sp>
      <p:sp>
        <p:nvSpPr>
          <p:cNvPr id="5" name="Text 3"/>
          <p:cNvSpPr/>
          <p:nvPr/>
        </p:nvSpPr>
        <p:spPr>
          <a:xfrm>
            <a:off x="548640" y="594360"/>
            <a:ext cx="9601200" cy="731520"/>
          </a:xfrm>
          <a:prstGeom prst="rect">
            <a:avLst/>
          </a:prstGeom>
          <a:noFill/>
          <a:ln/>
        </p:spPr>
        <p:txBody>
          <a:bodyPr wrap="square" rtlCol="0" anchor="ctr"/>
          <a:lstStyle/>
          <a:p>
            <a:r>
              <a:rPr lang="en-US" sz="3200" dirty="0">
                <a:solidFill>
                  <a:schemeClr val="bg1"/>
                </a:solidFill>
              </a:rPr>
              <a:t>Publisher Performance &amp; Best-Selling Games</a:t>
            </a:r>
            <a:endParaRPr lang="en-US" sz="3000" dirty="0">
              <a:solidFill>
                <a:schemeClr val="bg1"/>
              </a:solidFill>
            </a:endParaRPr>
          </a:p>
        </p:txBody>
      </p:sp>
      <p:sp>
        <p:nvSpPr>
          <p:cNvPr id="6" name="Shape 4"/>
          <p:cNvSpPr/>
          <p:nvPr/>
        </p:nvSpPr>
        <p:spPr>
          <a:xfrm>
            <a:off x="6888103" y="3700837"/>
            <a:ext cx="4752208" cy="2804976"/>
          </a:xfrm>
          <a:prstGeom prst="roundRect">
            <a:avLst>
              <a:gd name="adj" fmla="val 1649"/>
            </a:avLst>
          </a:prstGeom>
          <a:solidFill>
            <a:srgbClr val="13151F"/>
          </a:solidFill>
          <a:ln w="12700">
            <a:solidFill>
              <a:srgbClr val="00F0FF"/>
            </a:solidFill>
            <a:prstDash val="solid"/>
          </a:ln>
        </p:spPr>
        <p:txBody>
          <a:bodyPr/>
          <a:lstStyle/>
          <a:p>
            <a:endParaRPr lang="en-US" sz="1400"/>
          </a:p>
        </p:txBody>
      </p:sp>
      <p:sp>
        <p:nvSpPr>
          <p:cNvPr id="7" name="Text 5"/>
          <p:cNvSpPr/>
          <p:nvPr/>
        </p:nvSpPr>
        <p:spPr>
          <a:xfrm>
            <a:off x="7164157" y="3742890"/>
            <a:ext cx="4317749" cy="274320"/>
          </a:xfrm>
          <a:prstGeom prst="rect">
            <a:avLst/>
          </a:prstGeom>
          <a:noFill/>
          <a:ln/>
        </p:spPr>
        <p:txBody>
          <a:bodyPr wrap="square" rtlCol="0" anchor="ctr"/>
          <a:lstStyle/>
          <a:p>
            <a:pPr marL="0" indent="0">
              <a:buNone/>
            </a:pPr>
            <a:r>
              <a:rPr lang="en-US" sz="1050" b="1" kern="0" spc="100" dirty="0">
                <a:solidFill>
                  <a:srgbClr val="00F0FF"/>
                </a:solidFill>
                <a:latin typeface="Calibri" pitchFamily="34" charset="0"/>
                <a:ea typeface="Calibri" pitchFamily="34" charset="-122"/>
                <a:cs typeface="Calibri" pitchFamily="34" charset="-120"/>
              </a:rPr>
              <a:t>ANSWERING Q4 — PUBLISHER DENSITY</a:t>
            </a:r>
            <a:endParaRPr lang="en-US" sz="1050" dirty="0"/>
          </a:p>
        </p:txBody>
      </p:sp>
      <p:sp>
        <p:nvSpPr>
          <p:cNvPr id="8" name="Text 6"/>
          <p:cNvSpPr/>
          <p:nvPr/>
        </p:nvSpPr>
        <p:spPr>
          <a:xfrm>
            <a:off x="7164157" y="4013793"/>
            <a:ext cx="4317749" cy="365760"/>
          </a:xfrm>
          <a:prstGeom prst="rect">
            <a:avLst/>
          </a:prstGeom>
          <a:noFill/>
          <a:ln/>
        </p:spPr>
        <p:txBody>
          <a:bodyPr wrap="square" rtlCol="0" anchor="ctr"/>
          <a:lstStyle/>
          <a:p>
            <a:r>
              <a:rPr lang="en-US" sz="1400" b="1" dirty="0">
                <a:solidFill>
                  <a:schemeClr val="bg1"/>
                </a:solidFill>
                <a:latin typeface="Arial" panose="020B0604020202020204" pitchFamily="34" charset="0"/>
                <a:cs typeface="Arial" panose="020B0604020202020204" pitchFamily="34" charset="0"/>
              </a:rPr>
              <a:t>Top Publisher</a:t>
            </a:r>
            <a:r>
              <a:rPr lang="en-US" sz="1400" b="1" dirty="0">
                <a:solidFill>
                  <a:srgbClr val="FFFFFF"/>
                </a:solidFill>
                <a:latin typeface="Arial" pitchFamily="34" charset="0"/>
                <a:ea typeface="Arial" pitchFamily="34" charset="-122"/>
                <a:cs typeface="Arial" pitchFamily="34" charset="-120"/>
              </a:rPr>
              <a:t>: Nintendo</a:t>
            </a:r>
            <a:endParaRPr lang="en-US" sz="1400" dirty="0"/>
          </a:p>
        </p:txBody>
      </p:sp>
      <p:sp>
        <p:nvSpPr>
          <p:cNvPr id="9" name="Text 7"/>
          <p:cNvSpPr/>
          <p:nvPr/>
        </p:nvSpPr>
        <p:spPr>
          <a:xfrm>
            <a:off x="7164157" y="4268670"/>
            <a:ext cx="4317749" cy="685800"/>
          </a:xfrm>
          <a:prstGeom prst="rect">
            <a:avLst/>
          </a:prstGeom>
          <a:noFill/>
          <a:ln/>
        </p:spPr>
        <p:txBody>
          <a:bodyPr wrap="square" rtlCol="0" anchor="ctr"/>
          <a:lstStyle/>
          <a:p>
            <a:pPr marL="0" indent="0">
              <a:buNone/>
            </a:pPr>
            <a:r>
              <a:rPr lang="en-US" sz="2800" b="1" dirty="0">
                <a:solidFill>
                  <a:srgbClr val="FF007F"/>
                </a:solidFill>
                <a:latin typeface="Arial" pitchFamily="34" charset="0"/>
                <a:ea typeface="Arial" pitchFamily="34" charset="-122"/>
                <a:cs typeface="Arial" pitchFamily="34" charset="-120"/>
              </a:rPr>
              <a:t>1.78B USD</a:t>
            </a:r>
            <a:endParaRPr lang="en-US" sz="2800" dirty="0"/>
          </a:p>
        </p:txBody>
      </p:sp>
      <p:sp>
        <p:nvSpPr>
          <p:cNvPr id="10" name="Text 8"/>
          <p:cNvSpPr/>
          <p:nvPr/>
        </p:nvSpPr>
        <p:spPr>
          <a:xfrm>
            <a:off x="7164157" y="4803319"/>
            <a:ext cx="4317749" cy="457200"/>
          </a:xfrm>
          <a:prstGeom prst="rect">
            <a:avLst/>
          </a:prstGeom>
          <a:noFill/>
          <a:ln/>
        </p:spPr>
        <p:txBody>
          <a:bodyPr wrap="square" rtlCol="0" anchor="ctr"/>
          <a:lstStyle/>
          <a:p>
            <a:pPr marL="0" indent="0">
              <a:buNone/>
            </a:pPr>
            <a:r>
              <a:rPr lang="en-US" sz="1100" dirty="0">
                <a:solidFill>
                  <a:srgbClr val="8B93A8"/>
                </a:solidFill>
                <a:latin typeface="Calibri" pitchFamily="34" charset="0"/>
                <a:ea typeface="Calibri" pitchFamily="34" charset="-122"/>
                <a:cs typeface="Calibri" pitchFamily="34" charset="-120"/>
              </a:rPr>
              <a:t>in global sales — the absolute titan of software publishing.</a:t>
            </a:r>
            <a:endParaRPr lang="en-US" sz="1100" dirty="0"/>
          </a:p>
        </p:txBody>
      </p:sp>
      <p:sp>
        <p:nvSpPr>
          <p:cNvPr id="11" name="Shape 9"/>
          <p:cNvSpPr/>
          <p:nvPr/>
        </p:nvSpPr>
        <p:spPr>
          <a:xfrm>
            <a:off x="7164157" y="5260519"/>
            <a:ext cx="4317749" cy="0"/>
          </a:xfrm>
          <a:prstGeom prst="line">
            <a:avLst/>
          </a:prstGeom>
          <a:noFill/>
          <a:ln w="12700">
            <a:solidFill>
              <a:srgbClr val="1D2130"/>
            </a:solidFill>
            <a:prstDash val="solid"/>
          </a:ln>
        </p:spPr>
        <p:txBody>
          <a:bodyPr/>
          <a:lstStyle/>
          <a:p>
            <a:endParaRPr lang="en-US" sz="1400"/>
          </a:p>
        </p:txBody>
      </p:sp>
      <p:sp>
        <p:nvSpPr>
          <p:cNvPr id="12" name="Text 10"/>
          <p:cNvSpPr/>
          <p:nvPr/>
        </p:nvSpPr>
        <p:spPr>
          <a:xfrm>
            <a:off x="7164157" y="5278807"/>
            <a:ext cx="4317749" cy="594360"/>
          </a:xfrm>
          <a:prstGeom prst="rect">
            <a:avLst/>
          </a:prstGeom>
          <a:noFill/>
          <a:ln/>
        </p:spPr>
        <p:txBody>
          <a:bodyPr wrap="square" rtlCol="0" anchor="ctr"/>
          <a:lstStyle/>
          <a:p>
            <a:pPr marL="0" indent="0">
              <a:buNone/>
            </a:pPr>
            <a:r>
              <a:rPr lang="en-US" sz="2400" b="1" dirty="0">
                <a:solidFill>
                  <a:srgbClr val="00F0FF"/>
                </a:solidFill>
                <a:latin typeface="Arial" pitchFamily="34" charset="0"/>
                <a:ea typeface="Arial" pitchFamily="34" charset="-122"/>
                <a:cs typeface="Arial" pitchFamily="34" charset="-120"/>
              </a:rPr>
              <a:t>315 titles</a:t>
            </a:r>
            <a:endParaRPr lang="en-US" sz="2400" dirty="0"/>
          </a:p>
        </p:txBody>
      </p:sp>
      <p:sp>
        <p:nvSpPr>
          <p:cNvPr id="13" name="Text 11"/>
          <p:cNvSpPr/>
          <p:nvPr/>
        </p:nvSpPr>
        <p:spPr>
          <a:xfrm>
            <a:off x="7164157" y="5646277"/>
            <a:ext cx="4317749" cy="914400"/>
          </a:xfrm>
          <a:prstGeom prst="rect">
            <a:avLst/>
          </a:prstGeom>
          <a:noFill/>
          <a:ln/>
        </p:spPr>
        <p:txBody>
          <a:bodyPr wrap="square" rtlCol="0" anchor="ctr"/>
          <a:lstStyle/>
          <a:p>
            <a:pPr marL="0" indent="0">
              <a:buNone/>
            </a:pPr>
            <a:r>
              <a:rPr lang="en-US" sz="1100" dirty="0">
                <a:solidFill>
                  <a:srgbClr val="8B93A8"/>
                </a:solidFill>
                <a:latin typeface="Calibri" pitchFamily="34" charset="0"/>
                <a:ea typeface="Calibri" pitchFamily="34" charset="-122"/>
                <a:cs typeface="Calibri" pitchFamily="34" charset="-120"/>
              </a:rPr>
              <a:t>Million-Seller games injected into the market by Nintendo alone — the highest hit-volume density in the industry.</a:t>
            </a:r>
            <a:endParaRPr lang="en-US" sz="1100" dirty="0"/>
          </a:p>
        </p:txBody>
      </p:sp>
      <p:sp>
        <p:nvSpPr>
          <p:cNvPr id="14" name="Shape 12"/>
          <p:cNvSpPr/>
          <p:nvPr/>
        </p:nvSpPr>
        <p:spPr>
          <a:xfrm>
            <a:off x="6888104" y="1600200"/>
            <a:ext cx="4752207" cy="1937978"/>
          </a:xfrm>
          <a:prstGeom prst="roundRect">
            <a:avLst>
              <a:gd name="adj" fmla="val 1649"/>
            </a:avLst>
          </a:prstGeom>
          <a:solidFill>
            <a:srgbClr val="1A0E16"/>
          </a:solidFill>
          <a:ln w="12700">
            <a:solidFill>
              <a:srgbClr val="FF007F"/>
            </a:solidFill>
            <a:prstDash val="solid"/>
          </a:ln>
        </p:spPr>
        <p:txBody>
          <a:bodyPr/>
          <a:lstStyle/>
          <a:p>
            <a:endParaRPr lang="en-US"/>
          </a:p>
        </p:txBody>
      </p:sp>
      <p:sp>
        <p:nvSpPr>
          <p:cNvPr id="15" name="Text 13"/>
          <p:cNvSpPr/>
          <p:nvPr/>
        </p:nvSpPr>
        <p:spPr>
          <a:xfrm>
            <a:off x="6941306" y="1783080"/>
            <a:ext cx="4351533" cy="138008"/>
          </a:xfrm>
          <a:prstGeom prst="rect">
            <a:avLst/>
          </a:prstGeom>
          <a:noFill/>
          <a:ln/>
        </p:spPr>
        <p:txBody>
          <a:bodyPr wrap="square" rtlCol="0" anchor="ctr"/>
          <a:lstStyle/>
          <a:p>
            <a:pPr marL="0" indent="0">
              <a:buNone/>
            </a:pPr>
            <a:r>
              <a:rPr lang="en-US" sz="1400" b="1" dirty="0">
                <a:solidFill>
                  <a:srgbClr val="FF007F"/>
                </a:solidFill>
                <a:latin typeface="Arial" pitchFamily="34" charset="0"/>
                <a:cs typeface="Arial" pitchFamily="34" charset="-120"/>
              </a:rPr>
              <a:t>BEST-SELLING</a:t>
            </a:r>
            <a:r>
              <a:rPr lang="en-US" sz="600" b="1" dirty="0">
                <a:solidFill>
                  <a:srgbClr val="FF007F"/>
                </a:solidFill>
                <a:latin typeface="Arial" pitchFamily="34" charset="0"/>
                <a:cs typeface="Arial" pitchFamily="34" charset="-120"/>
              </a:rPr>
              <a:t> </a:t>
            </a:r>
            <a:r>
              <a:rPr lang="en-US" sz="1400" b="1" dirty="0">
                <a:solidFill>
                  <a:srgbClr val="FF007F"/>
                </a:solidFill>
                <a:latin typeface="Arial" pitchFamily="34" charset="0"/>
                <a:cs typeface="Arial" pitchFamily="34" charset="-120"/>
              </a:rPr>
              <a:t>GAME</a:t>
            </a:r>
          </a:p>
        </p:txBody>
      </p:sp>
      <p:sp>
        <p:nvSpPr>
          <p:cNvPr id="16" name="Text 14"/>
          <p:cNvSpPr/>
          <p:nvPr/>
        </p:nvSpPr>
        <p:spPr>
          <a:xfrm>
            <a:off x="6888104" y="2079232"/>
            <a:ext cx="4435216" cy="3220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Wii Sports</a:t>
            </a:r>
            <a:endParaRPr lang="en-US" sz="2800" dirty="0"/>
          </a:p>
        </p:txBody>
      </p:sp>
      <p:sp>
        <p:nvSpPr>
          <p:cNvPr id="17" name="Text 15"/>
          <p:cNvSpPr/>
          <p:nvPr/>
        </p:nvSpPr>
        <p:spPr>
          <a:xfrm>
            <a:off x="6888104" y="2422556"/>
            <a:ext cx="4435216" cy="506031"/>
          </a:xfrm>
          <a:prstGeom prst="rect">
            <a:avLst/>
          </a:prstGeom>
          <a:noFill/>
          <a:ln/>
        </p:spPr>
        <p:txBody>
          <a:bodyPr wrap="square" rtlCol="0" anchor="ctr"/>
          <a:lstStyle/>
          <a:p>
            <a:pPr marL="0" indent="0" algn="ctr">
              <a:buNone/>
            </a:pPr>
            <a:r>
              <a:rPr lang="en-US" sz="3600" b="1" dirty="0">
                <a:solidFill>
                  <a:srgbClr val="FF007F"/>
                </a:solidFill>
                <a:latin typeface="Arial" pitchFamily="34" charset="0"/>
                <a:ea typeface="Arial" pitchFamily="34" charset="-122"/>
                <a:cs typeface="Arial" pitchFamily="34" charset="-120"/>
              </a:rPr>
              <a:t>82.74M</a:t>
            </a:r>
            <a:endParaRPr lang="en-US" sz="5600" dirty="0"/>
          </a:p>
        </p:txBody>
      </p:sp>
      <p:sp>
        <p:nvSpPr>
          <p:cNvPr id="18" name="Text 16"/>
          <p:cNvSpPr/>
          <p:nvPr/>
        </p:nvSpPr>
        <p:spPr>
          <a:xfrm>
            <a:off x="7222837" y="2894139"/>
            <a:ext cx="3765749" cy="644039"/>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copies sold worldwide — stands as the single highest-selling game title in human history.</a:t>
            </a:r>
            <a:endParaRPr lang="en-US" sz="1300" dirty="0"/>
          </a:p>
        </p:txBody>
      </p:sp>
      <p:sp>
        <p:nvSpPr>
          <p:cNvPr id="19" name="Text 17"/>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12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pic>
        <p:nvPicPr>
          <p:cNvPr id="21" name="Picture 20">
            <a:extLst>
              <a:ext uri="{FF2B5EF4-FFF2-40B4-BE49-F238E27FC236}">
                <a16:creationId xmlns:a16="http://schemas.microsoft.com/office/drawing/2014/main" id="{14EE96A9-2C8F-44BE-E11D-937A0EB54FC9}"/>
              </a:ext>
            </a:extLst>
          </p:cNvPr>
          <p:cNvPicPr>
            <a:picLocks noChangeAspect="1"/>
          </p:cNvPicPr>
          <p:nvPr/>
        </p:nvPicPr>
        <p:blipFill>
          <a:blip r:embed="rId3"/>
          <a:stretch>
            <a:fillRect/>
          </a:stretch>
        </p:blipFill>
        <p:spPr>
          <a:xfrm>
            <a:off x="213361" y="1498603"/>
            <a:ext cx="6629670" cy="50620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Text 2"/>
          <p:cNvSpPr/>
          <p:nvPr/>
        </p:nvSpPr>
        <p:spPr>
          <a:xfrm>
            <a:off x="548640" y="320040"/>
            <a:ext cx="7315200" cy="320040"/>
          </a:xfrm>
          <a:prstGeom prst="rect">
            <a:avLst/>
          </a:prstGeom>
          <a:noFill/>
          <a:ln/>
        </p:spPr>
        <p:txBody>
          <a:bodyPr wrap="square" rtlCol="0" anchor="ctr"/>
          <a:lstStyle/>
          <a:p>
            <a:r>
              <a:rPr lang="en-US" sz="1200" b="1" kern="0" spc="300" dirty="0">
                <a:solidFill>
                  <a:srgbClr val="00F0FF"/>
                </a:solidFill>
                <a:latin typeface="Calibri" pitchFamily="34" charset="0"/>
                <a:cs typeface="Calibri" pitchFamily="34" charset="-120"/>
              </a:rPr>
              <a:t>BUSINESS RECOMMENDATIONS</a:t>
            </a:r>
          </a:p>
        </p:txBody>
      </p:sp>
      <p:sp>
        <p:nvSpPr>
          <p:cNvPr id="5" name="Text 3"/>
          <p:cNvSpPr/>
          <p:nvPr/>
        </p:nvSpPr>
        <p:spPr>
          <a:xfrm>
            <a:off x="548640" y="594360"/>
            <a:ext cx="9601200" cy="73152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Strategic Recommendations</a:t>
            </a:r>
            <a:endParaRPr lang="en-US" sz="3000" dirty="0"/>
          </a:p>
        </p:txBody>
      </p:sp>
      <p:sp>
        <p:nvSpPr>
          <p:cNvPr id="6" name="Shape 4"/>
          <p:cNvSpPr/>
          <p:nvPr/>
        </p:nvSpPr>
        <p:spPr>
          <a:xfrm>
            <a:off x="548640" y="1691640"/>
            <a:ext cx="11091672" cy="1417320"/>
          </a:xfrm>
          <a:prstGeom prst="roundRect">
            <a:avLst>
              <a:gd name="adj" fmla="val 5161"/>
            </a:avLst>
          </a:prstGeom>
          <a:solidFill>
            <a:srgbClr val="13151F"/>
          </a:solidFill>
          <a:ln w="12700">
            <a:solidFill>
              <a:srgbClr val="00F0FF"/>
            </a:solidFill>
            <a:prstDash val="solid"/>
          </a:ln>
        </p:spPr>
        <p:txBody>
          <a:bodyPr/>
          <a:lstStyle/>
          <a:p>
            <a:endParaRPr lang="en-US"/>
          </a:p>
        </p:txBody>
      </p:sp>
      <p:sp>
        <p:nvSpPr>
          <p:cNvPr id="7" name="Shape 5"/>
          <p:cNvSpPr/>
          <p:nvPr/>
        </p:nvSpPr>
        <p:spPr>
          <a:xfrm>
            <a:off x="822960" y="2011680"/>
            <a:ext cx="777240" cy="777240"/>
          </a:xfrm>
          <a:prstGeom prst="roundRect">
            <a:avLst>
              <a:gd name="adj" fmla="val 49412"/>
            </a:avLst>
          </a:prstGeom>
          <a:solidFill>
            <a:srgbClr val="FF007F"/>
          </a:solidFill>
          <a:ln/>
        </p:spPr>
        <p:txBody>
          <a:bodyPr/>
          <a:lstStyle/>
          <a:p>
            <a:endParaRPr lang="en-US"/>
          </a:p>
        </p:txBody>
      </p:sp>
      <p:sp>
        <p:nvSpPr>
          <p:cNvPr id="8" name="Text 6"/>
          <p:cNvSpPr/>
          <p:nvPr/>
        </p:nvSpPr>
        <p:spPr>
          <a:xfrm>
            <a:off x="822960" y="2011680"/>
            <a:ext cx="777240" cy="77724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Text 7"/>
          <p:cNvSpPr/>
          <p:nvPr/>
        </p:nvSpPr>
        <p:spPr>
          <a:xfrm>
            <a:off x="1828800" y="1856232"/>
            <a:ext cx="9509760" cy="365760"/>
          </a:xfrm>
          <a:prstGeom prst="rect">
            <a:avLst/>
          </a:prstGeom>
          <a:noFill/>
          <a:ln/>
        </p:spPr>
        <p:txBody>
          <a:bodyPr wrap="square" rtlCol="0" anchor="ctr"/>
          <a:lstStyle/>
          <a:p>
            <a:pPr marL="0" indent="0">
              <a:buNone/>
            </a:pPr>
            <a:r>
              <a:rPr lang="en-US" sz="1600" b="1" dirty="0">
                <a:solidFill>
                  <a:srgbClr val="00F0FF"/>
                </a:solidFill>
                <a:latin typeface="Arial" pitchFamily="34" charset="0"/>
                <a:ea typeface="Arial" pitchFamily="34" charset="-122"/>
                <a:cs typeface="Arial" pitchFamily="34" charset="-120"/>
              </a:rPr>
              <a:t>Geographic Localization</a:t>
            </a:r>
            <a:endParaRPr lang="en-US" sz="1600" dirty="0"/>
          </a:p>
        </p:txBody>
      </p:sp>
      <p:sp>
        <p:nvSpPr>
          <p:cNvPr id="10" name="Text 8"/>
          <p:cNvSpPr/>
          <p:nvPr/>
        </p:nvSpPr>
        <p:spPr>
          <a:xfrm>
            <a:off x="1828800" y="2240280"/>
            <a:ext cx="9509760" cy="777240"/>
          </a:xfrm>
          <a:prstGeom prst="rect">
            <a:avLst/>
          </a:prstGeom>
          <a:noFill/>
          <a:ln/>
        </p:spPr>
        <p:txBody>
          <a:bodyPr wrap="square" rtlCol="0" anchor="ctr"/>
          <a:lstStyle/>
          <a:p>
            <a:r>
              <a:rPr lang="en-US" sz="1250" dirty="0">
                <a:solidFill>
                  <a:srgbClr val="FFFFFF"/>
                </a:solidFill>
                <a:latin typeface="Calibri" pitchFamily="34" charset="0"/>
                <a:cs typeface="Calibri" pitchFamily="34" charset="-120"/>
              </a:rPr>
              <a:t>Publishers should prioritize the North American market, which accounts for 49% of total sales.</a:t>
            </a:r>
          </a:p>
        </p:txBody>
      </p:sp>
      <p:sp>
        <p:nvSpPr>
          <p:cNvPr id="11" name="Shape 9"/>
          <p:cNvSpPr/>
          <p:nvPr/>
        </p:nvSpPr>
        <p:spPr>
          <a:xfrm>
            <a:off x="548640" y="3291840"/>
            <a:ext cx="11091672" cy="1417320"/>
          </a:xfrm>
          <a:prstGeom prst="roundRect">
            <a:avLst>
              <a:gd name="adj" fmla="val 5161"/>
            </a:avLst>
          </a:prstGeom>
          <a:solidFill>
            <a:srgbClr val="171A26"/>
          </a:solidFill>
          <a:ln w="12700">
            <a:solidFill>
              <a:srgbClr val="00F0FF"/>
            </a:solidFill>
            <a:prstDash val="solid"/>
          </a:ln>
        </p:spPr>
        <p:txBody>
          <a:bodyPr/>
          <a:lstStyle/>
          <a:p>
            <a:endParaRPr lang="en-US"/>
          </a:p>
        </p:txBody>
      </p:sp>
      <p:sp>
        <p:nvSpPr>
          <p:cNvPr id="12" name="Shape 10"/>
          <p:cNvSpPr/>
          <p:nvPr/>
        </p:nvSpPr>
        <p:spPr>
          <a:xfrm>
            <a:off x="822960" y="3611880"/>
            <a:ext cx="777240" cy="777240"/>
          </a:xfrm>
          <a:prstGeom prst="roundRect">
            <a:avLst>
              <a:gd name="adj" fmla="val 49412"/>
            </a:avLst>
          </a:prstGeom>
          <a:solidFill>
            <a:srgbClr val="FF007F"/>
          </a:solidFill>
          <a:ln/>
        </p:spPr>
        <p:txBody>
          <a:bodyPr/>
          <a:lstStyle/>
          <a:p>
            <a:endParaRPr lang="en-US"/>
          </a:p>
        </p:txBody>
      </p:sp>
      <p:sp>
        <p:nvSpPr>
          <p:cNvPr id="13" name="Text 11"/>
          <p:cNvSpPr/>
          <p:nvPr/>
        </p:nvSpPr>
        <p:spPr>
          <a:xfrm>
            <a:off x="822960" y="3611880"/>
            <a:ext cx="777240" cy="77724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4" name="Text 12"/>
          <p:cNvSpPr/>
          <p:nvPr/>
        </p:nvSpPr>
        <p:spPr>
          <a:xfrm>
            <a:off x="1828800" y="3456432"/>
            <a:ext cx="9509760" cy="365760"/>
          </a:xfrm>
          <a:prstGeom prst="rect">
            <a:avLst/>
          </a:prstGeom>
          <a:noFill/>
          <a:ln/>
        </p:spPr>
        <p:txBody>
          <a:bodyPr wrap="square" rtlCol="0" anchor="ctr"/>
          <a:lstStyle/>
          <a:p>
            <a:pPr marL="0" indent="0">
              <a:buNone/>
            </a:pPr>
            <a:r>
              <a:rPr lang="en-US" sz="1600" b="1" dirty="0">
                <a:solidFill>
                  <a:srgbClr val="00F0FF"/>
                </a:solidFill>
                <a:latin typeface="Arial" pitchFamily="34" charset="0"/>
                <a:ea typeface="Arial" pitchFamily="34" charset="-122"/>
                <a:cs typeface="Arial" pitchFamily="34" charset="-120"/>
              </a:rPr>
              <a:t>Genre Risk Management</a:t>
            </a:r>
            <a:endParaRPr lang="en-US" sz="1600" dirty="0"/>
          </a:p>
        </p:txBody>
      </p:sp>
      <p:sp>
        <p:nvSpPr>
          <p:cNvPr id="15" name="Text 13"/>
          <p:cNvSpPr/>
          <p:nvPr/>
        </p:nvSpPr>
        <p:spPr>
          <a:xfrm>
            <a:off x="1828800" y="3840480"/>
            <a:ext cx="9509760" cy="777240"/>
          </a:xfrm>
          <a:prstGeom prst="rect">
            <a:avLst/>
          </a:prstGeom>
          <a:noFill/>
          <a:ln/>
        </p:spPr>
        <p:txBody>
          <a:bodyPr wrap="square" rtlCol="0" anchor="ctr"/>
          <a:lstStyle/>
          <a:p>
            <a:pPr marL="0" indent="0">
              <a:buNone/>
            </a:pPr>
            <a:r>
              <a:rPr lang="en-US" sz="1250" dirty="0">
                <a:solidFill>
                  <a:srgbClr val="FFFFFF"/>
                </a:solidFill>
                <a:latin typeface="Calibri" pitchFamily="34" charset="0"/>
                <a:cs typeface="Calibri" pitchFamily="34" charset="-120"/>
              </a:rPr>
              <a:t>Prioritize Action and Sports games for global audiences, while targeting Role-Playing games to the Japanese market based on regional preferences</a:t>
            </a:r>
            <a:r>
              <a:rPr lang="en-US" sz="1400" dirty="0"/>
              <a:t>.</a:t>
            </a:r>
            <a:endParaRPr lang="en-US" sz="1250" dirty="0"/>
          </a:p>
        </p:txBody>
      </p:sp>
      <p:sp>
        <p:nvSpPr>
          <p:cNvPr id="16" name="Shape 14"/>
          <p:cNvSpPr/>
          <p:nvPr/>
        </p:nvSpPr>
        <p:spPr>
          <a:xfrm>
            <a:off x="548640" y="4892040"/>
            <a:ext cx="11091672" cy="1417320"/>
          </a:xfrm>
          <a:prstGeom prst="roundRect">
            <a:avLst>
              <a:gd name="adj" fmla="val 5161"/>
            </a:avLst>
          </a:prstGeom>
          <a:solidFill>
            <a:srgbClr val="13151F"/>
          </a:solidFill>
          <a:ln w="12700">
            <a:solidFill>
              <a:srgbClr val="00F0FF"/>
            </a:solidFill>
            <a:prstDash val="solid"/>
          </a:ln>
        </p:spPr>
        <p:txBody>
          <a:bodyPr/>
          <a:lstStyle/>
          <a:p>
            <a:endParaRPr lang="en-US"/>
          </a:p>
        </p:txBody>
      </p:sp>
      <p:sp>
        <p:nvSpPr>
          <p:cNvPr id="17" name="Shape 15"/>
          <p:cNvSpPr/>
          <p:nvPr/>
        </p:nvSpPr>
        <p:spPr>
          <a:xfrm>
            <a:off x="822960" y="5212080"/>
            <a:ext cx="777240" cy="777240"/>
          </a:xfrm>
          <a:prstGeom prst="roundRect">
            <a:avLst>
              <a:gd name="adj" fmla="val 49412"/>
            </a:avLst>
          </a:prstGeom>
          <a:solidFill>
            <a:srgbClr val="FF007F"/>
          </a:solidFill>
          <a:ln/>
        </p:spPr>
        <p:txBody>
          <a:bodyPr/>
          <a:lstStyle/>
          <a:p>
            <a:endParaRPr lang="en-US"/>
          </a:p>
        </p:txBody>
      </p:sp>
      <p:sp>
        <p:nvSpPr>
          <p:cNvPr id="18" name="Text 16"/>
          <p:cNvSpPr/>
          <p:nvPr/>
        </p:nvSpPr>
        <p:spPr>
          <a:xfrm>
            <a:off x="822960" y="5212080"/>
            <a:ext cx="777240" cy="777240"/>
          </a:xfrm>
          <a:prstGeom prst="rect">
            <a:avLst/>
          </a:prstGeom>
          <a:noFill/>
          <a:ln/>
        </p:spPr>
        <p:txBody>
          <a:bodyPr wrap="square"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9" name="Text 17"/>
          <p:cNvSpPr/>
          <p:nvPr/>
        </p:nvSpPr>
        <p:spPr>
          <a:xfrm>
            <a:off x="1828800" y="5056632"/>
            <a:ext cx="9509760" cy="365760"/>
          </a:xfrm>
          <a:prstGeom prst="rect">
            <a:avLst/>
          </a:prstGeom>
          <a:noFill/>
          <a:ln/>
        </p:spPr>
        <p:txBody>
          <a:bodyPr wrap="square" rtlCol="0" anchor="ctr"/>
          <a:lstStyle/>
          <a:p>
            <a:pPr marL="0" indent="0">
              <a:buNone/>
            </a:pPr>
            <a:r>
              <a:rPr lang="en-US" sz="1600" b="1" dirty="0">
                <a:solidFill>
                  <a:srgbClr val="00F0FF"/>
                </a:solidFill>
                <a:latin typeface="Arial" pitchFamily="34" charset="0"/>
                <a:ea typeface="Arial" pitchFamily="34" charset="-122"/>
                <a:cs typeface="Arial" pitchFamily="34" charset="-120"/>
              </a:rPr>
              <a:t>Software Development Roadmaps</a:t>
            </a:r>
            <a:endParaRPr lang="en-US" sz="1600" dirty="0"/>
          </a:p>
        </p:txBody>
      </p:sp>
      <p:sp>
        <p:nvSpPr>
          <p:cNvPr id="20" name="Text 18"/>
          <p:cNvSpPr/>
          <p:nvPr/>
        </p:nvSpPr>
        <p:spPr>
          <a:xfrm>
            <a:off x="1828800" y="5440680"/>
            <a:ext cx="9509760" cy="777240"/>
          </a:xfrm>
          <a:prstGeom prst="rect">
            <a:avLst/>
          </a:prstGeom>
          <a:noFill/>
          <a:ln/>
        </p:spPr>
        <p:txBody>
          <a:bodyPr wrap="square" rtlCol="0" anchor="ctr"/>
          <a:lstStyle/>
          <a:p>
            <a:pPr marL="0" indent="0">
              <a:buNone/>
            </a:pPr>
            <a:r>
              <a:rPr lang="en-US" sz="1250" dirty="0">
                <a:solidFill>
                  <a:srgbClr val="FFFFFF"/>
                </a:solidFill>
                <a:latin typeface="Calibri" pitchFamily="34" charset="0"/>
                <a:cs typeface="Calibri" pitchFamily="34" charset="-120"/>
              </a:rPr>
              <a:t>Align product development cycles with the historical average platform lifespan (8.87 years).</a:t>
            </a:r>
          </a:p>
        </p:txBody>
      </p:sp>
      <p:sp>
        <p:nvSpPr>
          <p:cNvPr id="21" name="Text 19"/>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1</a:t>
            </a:r>
            <a:r>
              <a:rPr lang="ar-EG" sz="900" dirty="0">
                <a:solidFill>
                  <a:srgbClr val="8B93A8"/>
                </a:solidFill>
                <a:latin typeface="Calibri" pitchFamily="34" charset="0"/>
                <a:ea typeface="Calibri" pitchFamily="34" charset="-122"/>
                <a:cs typeface="Calibri" pitchFamily="34" charset="-120"/>
              </a:rPr>
              <a:t>3</a:t>
            </a:r>
            <a:r>
              <a:rPr lang="en-US" sz="900" dirty="0">
                <a:solidFill>
                  <a:srgbClr val="8B93A8"/>
                </a:solidFill>
                <a:latin typeface="Calibri" pitchFamily="34" charset="0"/>
                <a:ea typeface="Calibri" pitchFamily="34" charset="-122"/>
                <a:cs typeface="Calibri" pitchFamily="34" charset="-120"/>
              </a:rPr>
              <a:t>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A0B10"/>
        </a:solidFill>
        <a:effectLst/>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0F0FF"/>
          </a:solidFill>
          <a:ln/>
        </p:spPr>
        <p:txBody>
          <a:bodyPr/>
          <a:lstStyle/>
          <a:p>
            <a:endParaRPr lang="en-US"/>
          </a:p>
        </p:txBody>
      </p:sp>
      <p:sp>
        <p:nvSpPr>
          <p:cNvPr id="3" name="Shape 1"/>
          <p:cNvSpPr/>
          <p:nvPr/>
        </p:nvSpPr>
        <p:spPr>
          <a:xfrm>
            <a:off x="0" y="6803136"/>
            <a:ext cx="12188952" cy="54864"/>
          </a:xfrm>
          <a:prstGeom prst="rect">
            <a:avLst/>
          </a:prstGeom>
          <a:solidFill>
            <a:srgbClr val="00F0FF"/>
          </a:solidFill>
          <a:ln/>
        </p:spPr>
        <p:txBody>
          <a:bodyPr/>
          <a:lstStyle/>
          <a:p>
            <a:endParaRPr lang="en-US"/>
          </a:p>
        </p:txBody>
      </p:sp>
      <p:sp>
        <p:nvSpPr>
          <p:cNvPr id="4" name="Shape 2"/>
          <p:cNvSpPr/>
          <p:nvPr/>
        </p:nvSpPr>
        <p:spPr>
          <a:xfrm>
            <a:off x="2194560" y="1920240"/>
            <a:ext cx="7799832" cy="3017520"/>
          </a:xfrm>
          <a:prstGeom prst="roundRect">
            <a:avLst>
              <a:gd name="adj" fmla="val 1818"/>
            </a:avLst>
          </a:prstGeom>
          <a:solidFill>
            <a:srgbClr val="0D0F17"/>
          </a:solidFill>
          <a:ln w="15875">
            <a:solidFill>
              <a:srgbClr val="00F0FF"/>
            </a:solidFill>
            <a:prstDash val="solid"/>
          </a:ln>
        </p:spPr>
        <p:txBody>
          <a:bodyPr/>
          <a:lstStyle/>
          <a:p>
            <a:endParaRPr lang="en-US"/>
          </a:p>
        </p:txBody>
      </p:sp>
      <p:sp>
        <p:nvSpPr>
          <p:cNvPr id="5" name="Text 3"/>
          <p:cNvSpPr/>
          <p:nvPr/>
        </p:nvSpPr>
        <p:spPr>
          <a:xfrm>
            <a:off x="2194560" y="2194560"/>
            <a:ext cx="7799832" cy="548640"/>
          </a:xfrm>
          <a:prstGeom prst="rect">
            <a:avLst/>
          </a:prstGeom>
          <a:noFill/>
          <a:ln/>
        </p:spPr>
        <p:txBody>
          <a:bodyPr wrap="square" rtlCol="0" anchor="ctr"/>
          <a:lstStyle/>
          <a:p>
            <a:pPr marL="0" indent="0" algn="ctr">
              <a:buNone/>
            </a:pPr>
            <a:r>
              <a:rPr lang="en-US" sz="2600" b="1" kern="0" spc="300" dirty="0">
                <a:solidFill>
                  <a:srgbClr val="00F0FF"/>
                </a:solidFill>
                <a:latin typeface="Arial" pitchFamily="34" charset="0"/>
                <a:ea typeface="Arial" pitchFamily="34" charset="-122"/>
                <a:cs typeface="Arial" pitchFamily="34" charset="-120"/>
              </a:rPr>
              <a:t>[ </a:t>
            </a:r>
            <a:r>
              <a:rPr lang="en-US" sz="2600" b="1" kern="0" spc="300" dirty="0">
                <a:solidFill>
                  <a:srgbClr val="00F0FF"/>
                </a:solidFill>
                <a:latin typeface="Arial" pitchFamily="34" charset="0"/>
                <a:cs typeface="Arial" pitchFamily="34" charset="-120"/>
              </a:rPr>
              <a:t>MISSION COMPLETE</a:t>
            </a:r>
            <a:r>
              <a:rPr lang="en-US" sz="2600" b="1" kern="0" spc="300" dirty="0">
                <a:solidFill>
                  <a:srgbClr val="00F0FF"/>
                </a:solidFill>
                <a:latin typeface="Arial" pitchFamily="34" charset="0"/>
                <a:ea typeface="Arial" pitchFamily="34" charset="-122"/>
                <a:cs typeface="Arial" pitchFamily="34" charset="-120"/>
              </a:rPr>
              <a:t> ]</a:t>
            </a:r>
            <a:endParaRPr lang="en-US" sz="2600" dirty="0"/>
          </a:p>
        </p:txBody>
      </p:sp>
      <p:sp>
        <p:nvSpPr>
          <p:cNvPr id="6" name="Text 4"/>
          <p:cNvSpPr/>
          <p:nvPr/>
        </p:nvSpPr>
        <p:spPr>
          <a:xfrm>
            <a:off x="2194560" y="2880360"/>
            <a:ext cx="7799832" cy="64008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Thank You for Your Time</a:t>
            </a:r>
            <a:endParaRPr lang="en-US" sz="3000" dirty="0"/>
          </a:p>
        </p:txBody>
      </p:sp>
      <p:sp>
        <p:nvSpPr>
          <p:cNvPr id="7" name="Shape 5"/>
          <p:cNvSpPr/>
          <p:nvPr/>
        </p:nvSpPr>
        <p:spPr>
          <a:xfrm>
            <a:off x="3108960" y="3703320"/>
            <a:ext cx="5971032" cy="0"/>
          </a:xfrm>
          <a:prstGeom prst="line">
            <a:avLst/>
          </a:prstGeom>
          <a:noFill/>
          <a:ln w="12700">
            <a:solidFill>
              <a:srgbClr val="1D2130"/>
            </a:solidFill>
            <a:prstDash val="solid"/>
          </a:ln>
        </p:spPr>
        <p:txBody>
          <a:bodyPr/>
          <a:lstStyle/>
          <a:p>
            <a:endParaRPr lang="en-US"/>
          </a:p>
        </p:txBody>
      </p:sp>
      <p:sp>
        <p:nvSpPr>
          <p:cNvPr id="8" name="Text 6"/>
          <p:cNvSpPr/>
          <p:nvPr/>
        </p:nvSpPr>
        <p:spPr>
          <a:xfrm>
            <a:off x="2194560" y="3931920"/>
            <a:ext cx="7799832" cy="457200"/>
          </a:xfrm>
          <a:prstGeom prst="rect">
            <a:avLst/>
          </a:prstGeom>
          <a:noFill/>
          <a:ln/>
        </p:spPr>
        <p:txBody>
          <a:bodyPr wrap="square" rtlCol="0" anchor="ctr"/>
          <a:lstStyle/>
          <a:p>
            <a:pPr marL="0" indent="0" algn="ctr">
              <a:buNone/>
            </a:pPr>
            <a:r>
              <a:rPr lang="en-US" sz="1600" b="1" dirty="0">
                <a:solidFill>
                  <a:srgbClr val="FF007F"/>
                </a:solidFill>
                <a:latin typeface="Calibri" pitchFamily="34" charset="0"/>
                <a:ea typeface="Calibri" pitchFamily="34" charset="-122"/>
                <a:cs typeface="Calibri" pitchFamily="34" charset="-120"/>
              </a:rPr>
              <a:t>Open for Questions &amp; Discussion</a:t>
            </a:r>
            <a:endParaRPr lang="en-US" sz="1600" dirty="0"/>
          </a:p>
        </p:txBody>
      </p:sp>
      <p:sp>
        <p:nvSpPr>
          <p:cNvPr id="10" name="Text 8"/>
          <p:cNvSpPr/>
          <p:nvPr/>
        </p:nvSpPr>
        <p:spPr>
          <a:xfrm>
            <a:off x="11064240" y="6510528"/>
            <a:ext cx="914400" cy="274320"/>
          </a:xfrm>
          <a:prstGeom prst="rect">
            <a:avLst/>
          </a:prstGeom>
          <a:noFill/>
          <a:ln/>
        </p:spPr>
        <p:txBody>
          <a:bodyPr wrap="square" rtlCol="0" anchor="ctr"/>
          <a:lstStyle/>
          <a:p>
            <a:pPr marL="0" indent="0" algn="r">
              <a:buNone/>
            </a:pPr>
            <a:r>
              <a:rPr lang="en-US" sz="900" dirty="0">
                <a:solidFill>
                  <a:srgbClr val="8B93A8"/>
                </a:solidFill>
                <a:latin typeface="Calibri" pitchFamily="34" charset="0"/>
                <a:ea typeface="Calibri" pitchFamily="34" charset="-122"/>
                <a:cs typeface="Calibri" pitchFamily="34" charset="-120"/>
              </a:rPr>
              <a:t>1</a:t>
            </a:r>
            <a:r>
              <a:rPr lang="ar-EG" sz="900" dirty="0">
                <a:solidFill>
                  <a:srgbClr val="8B93A8"/>
                </a:solidFill>
                <a:latin typeface="Calibri" pitchFamily="34" charset="0"/>
                <a:ea typeface="Calibri" pitchFamily="34" charset="-122"/>
                <a:cs typeface="Calibri" pitchFamily="34" charset="-120"/>
              </a:rPr>
              <a:t>4</a:t>
            </a:r>
            <a:r>
              <a:rPr lang="en-US" sz="900" dirty="0">
                <a:solidFill>
                  <a:srgbClr val="8B93A8"/>
                </a:solidFill>
                <a:latin typeface="Calibri" pitchFamily="34" charset="0"/>
                <a:ea typeface="Calibri" pitchFamily="34" charset="-122"/>
                <a:cs typeface="Calibri" pitchFamily="34" charset="-120"/>
              </a:rPr>
              <a:t> / 1</a:t>
            </a:r>
            <a:r>
              <a:rPr lang="ar-EG" sz="900" dirty="0">
                <a:solidFill>
                  <a:srgbClr val="8B93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2399</Words>
  <Application>Microsoft Office PowerPoint</Application>
  <PresentationFormat>Widescreen</PresentationFormat>
  <Paragraphs>228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محمد مجدي سيد عبد الوهاب</cp:lastModifiedBy>
  <cp:revision>51</cp:revision>
  <dcterms:created xsi:type="dcterms:W3CDTF">2026-07-14T23:22:09Z</dcterms:created>
  <dcterms:modified xsi:type="dcterms:W3CDTF">2026-07-15T00:55:29Z</dcterms:modified>
</cp:coreProperties>
</file>